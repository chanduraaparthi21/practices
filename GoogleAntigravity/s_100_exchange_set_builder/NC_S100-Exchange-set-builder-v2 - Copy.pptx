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35"/>
  </p:notesMasterIdLst>
  <p:sldIdLst>
    <p:sldId id="347" r:id="rId2"/>
    <p:sldId id="348" r:id="rId3"/>
    <p:sldId id="293" r:id="rId4"/>
    <p:sldId id="313" r:id="rId5"/>
    <p:sldId id="322" r:id="rId6"/>
    <p:sldId id="321" r:id="rId7"/>
    <p:sldId id="333" r:id="rId8"/>
    <p:sldId id="324" r:id="rId9"/>
    <p:sldId id="334" r:id="rId10"/>
    <p:sldId id="335" r:id="rId11"/>
    <p:sldId id="336" r:id="rId12"/>
    <p:sldId id="340" r:id="rId13"/>
    <p:sldId id="343" r:id="rId14"/>
    <p:sldId id="344" r:id="rId15"/>
    <p:sldId id="341" r:id="rId16"/>
    <p:sldId id="337" r:id="rId17"/>
    <p:sldId id="338" r:id="rId18"/>
    <p:sldId id="339" r:id="rId19"/>
    <p:sldId id="346" r:id="rId20"/>
    <p:sldId id="326" r:id="rId21"/>
    <p:sldId id="314" r:id="rId22"/>
    <p:sldId id="325" r:id="rId23"/>
    <p:sldId id="345" r:id="rId24"/>
    <p:sldId id="329" r:id="rId25"/>
    <p:sldId id="330" r:id="rId26"/>
    <p:sldId id="331" r:id="rId27"/>
    <p:sldId id="332" r:id="rId28"/>
    <p:sldId id="317" r:id="rId29"/>
    <p:sldId id="318" r:id="rId30"/>
    <p:sldId id="319" r:id="rId31"/>
    <p:sldId id="320" r:id="rId32"/>
    <p:sldId id="323" r:id="rId33"/>
    <p:sldId id="292" r:id="rId34"/>
  </p:sldIdLst>
  <p:sldSz cx="9144000" cy="6858000" type="screen4x3"/>
  <p:notesSz cx="6858000" cy="9144000"/>
  <p:defaultTextStyle>
    <a:defPPr>
      <a:defRPr lang="en-US"/>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3" algn="l" defTabSz="914288" rtl="0" eaLnBrk="1" latinLnBrk="0" hangingPunct="1">
      <a:defRPr sz="1800" kern="1200">
        <a:solidFill>
          <a:schemeClr val="tx1"/>
        </a:solidFill>
        <a:latin typeface="+mn-lt"/>
        <a:ea typeface="+mn-ea"/>
        <a:cs typeface="+mn-cs"/>
      </a:defRPr>
    </a:lvl4pPr>
    <a:lvl5pPr marL="1828576" algn="l" defTabSz="914288" rtl="0" eaLnBrk="1" latinLnBrk="0" hangingPunct="1">
      <a:defRPr sz="1800" kern="1200">
        <a:solidFill>
          <a:schemeClr val="tx1"/>
        </a:solidFill>
        <a:latin typeface="+mn-lt"/>
        <a:ea typeface="+mn-ea"/>
        <a:cs typeface="+mn-cs"/>
      </a:defRPr>
    </a:lvl5pPr>
    <a:lvl6pPr marL="2285721" algn="l" defTabSz="914288" rtl="0" eaLnBrk="1" latinLnBrk="0" hangingPunct="1">
      <a:defRPr sz="1800" kern="1200">
        <a:solidFill>
          <a:schemeClr val="tx1"/>
        </a:solidFill>
        <a:latin typeface="+mn-lt"/>
        <a:ea typeface="+mn-ea"/>
        <a:cs typeface="+mn-cs"/>
      </a:defRPr>
    </a:lvl6pPr>
    <a:lvl7pPr marL="2742865" algn="l" defTabSz="914288" rtl="0" eaLnBrk="1" latinLnBrk="0" hangingPunct="1">
      <a:defRPr sz="1800" kern="1200">
        <a:solidFill>
          <a:schemeClr val="tx1"/>
        </a:solidFill>
        <a:latin typeface="+mn-lt"/>
        <a:ea typeface="+mn-ea"/>
        <a:cs typeface="+mn-cs"/>
      </a:defRPr>
    </a:lvl7pPr>
    <a:lvl8pPr marL="3200010" algn="l" defTabSz="914288" rtl="0" eaLnBrk="1" latinLnBrk="0" hangingPunct="1">
      <a:defRPr sz="1800" kern="1200">
        <a:solidFill>
          <a:schemeClr val="tx1"/>
        </a:solidFill>
        <a:latin typeface="+mn-lt"/>
        <a:ea typeface="+mn-ea"/>
        <a:cs typeface="+mn-cs"/>
      </a:defRPr>
    </a:lvl8pPr>
    <a:lvl9pPr marL="3657153" algn="l" defTabSz="91428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modara Rao Vaggu" initials="DRV" lastIdx="1" clrIdx="0">
    <p:extLst>
      <p:ext uri="{19B8F6BF-5375-455C-9EA6-DF929625EA0E}">
        <p15:presenceInfo xmlns:p15="http://schemas.microsoft.com/office/powerpoint/2012/main" userId="S::vdmr1533@iictechnologies.com::8dba06b7-008a-4ec4-a7de-ab8556dab34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06" autoAdjust="0"/>
    <p:restoredTop sz="94394" autoAdjust="0"/>
  </p:normalViewPr>
  <p:slideViewPr>
    <p:cSldViewPr snapToGrid="0" showGuides="1">
      <p:cViewPr varScale="1">
        <p:scale>
          <a:sx n="80" d="100"/>
          <a:sy n="80" d="100"/>
        </p:scale>
        <p:origin x="1680" y="6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B76F8-0F6C-47E1-A5D8-29B80E43F09D}" type="datetimeFigureOut">
              <a:rPr lang="en-US" smtClean="0"/>
              <a:t>11/5/2025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7C7583-260F-4C62-9883-02D74C0DB65D}" type="slidenum">
              <a:rPr lang="en-US" smtClean="0"/>
              <a:t>‹#›</a:t>
            </a:fld>
            <a:endParaRPr lang="en-US"/>
          </a:p>
        </p:txBody>
      </p:sp>
    </p:spTree>
    <p:extLst>
      <p:ext uri="{BB962C8B-B14F-4D97-AF65-F5344CB8AC3E}">
        <p14:creationId xmlns:p14="http://schemas.microsoft.com/office/powerpoint/2010/main" val="4273056738"/>
      </p:ext>
    </p:extLst>
  </p:cSld>
  <p:clrMap bg1="lt1" tx1="dk1" bg2="lt2" tx2="dk2" accent1="accent1" accent2="accent2" accent3="accent3" accent4="accent4" accent5="accent5" accent6="accent6" hlink="hlink" folHlink="folHlink"/>
  <p:notesStyle>
    <a:lvl1pPr marL="0" algn="l" defTabSz="914288" rtl="0" eaLnBrk="1" latinLnBrk="0" hangingPunct="1">
      <a:defRPr sz="1200" kern="1200">
        <a:solidFill>
          <a:schemeClr val="tx1"/>
        </a:solidFill>
        <a:latin typeface="+mn-lt"/>
        <a:ea typeface="+mn-ea"/>
        <a:cs typeface="+mn-cs"/>
      </a:defRPr>
    </a:lvl1pPr>
    <a:lvl2pPr marL="457144" algn="l" defTabSz="914288" rtl="0" eaLnBrk="1" latinLnBrk="0" hangingPunct="1">
      <a:defRPr sz="1200" kern="1200">
        <a:solidFill>
          <a:schemeClr val="tx1"/>
        </a:solidFill>
        <a:latin typeface="+mn-lt"/>
        <a:ea typeface="+mn-ea"/>
        <a:cs typeface="+mn-cs"/>
      </a:defRPr>
    </a:lvl2pPr>
    <a:lvl3pPr marL="914288" algn="l" defTabSz="914288" rtl="0" eaLnBrk="1" latinLnBrk="0" hangingPunct="1">
      <a:defRPr sz="1200" kern="1200">
        <a:solidFill>
          <a:schemeClr val="tx1"/>
        </a:solidFill>
        <a:latin typeface="+mn-lt"/>
        <a:ea typeface="+mn-ea"/>
        <a:cs typeface="+mn-cs"/>
      </a:defRPr>
    </a:lvl3pPr>
    <a:lvl4pPr marL="1371433" algn="l" defTabSz="914288" rtl="0" eaLnBrk="1" latinLnBrk="0" hangingPunct="1">
      <a:defRPr sz="1200" kern="1200">
        <a:solidFill>
          <a:schemeClr val="tx1"/>
        </a:solidFill>
        <a:latin typeface="+mn-lt"/>
        <a:ea typeface="+mn-ea"/>
        <a:cs typeface="+mn-cs"/>
      </a:defRPr>
    </a:lvl4pPr>
    <a:lvl5pPr marL="1828576" algn="l" defTabSz="914288" rtl="0" eaLnBrk="1" latinLnBrk="0" hangingPunct="1">
      <a:defRPr sz="1200" kern="1200">
        <a:solidFill>
          <a:schemeClr val="tx1"/>
        </a:solidFill>
        <a:latin typeface="+mn-lt"/>
        <a:ea typeface="+mn-ea"/>
        <a:cs typeface="+mn-cs"/>
      </a:defRPr>
    </a:lvl5pPr>
    <a:lvl6pPr marL="2285721" algn="l" defTabSz="914288" rtl="0" eaLnBrk="1" latinLnBrk="0" hangingPunct="1">
      <a:defRPr sz="1200" kern="1200">
        <a:solidFill>
          <a:schemeClr val="tx1"/>
        </a:solidFill>
        <a:latin typeface="+mn-lt"/>
        <a:ea typeface="+mn-ea"/>
        <a:cs typeface="+mn-cs"/>
      </a:defRPr>
    </a:lvl6pPr>
    <a:lvl7pPr marL="2742865" algn="l" defTabSz="914288" rtl="0" eaLnBrk="1" latinLnBrk="0" hangingPunct="1">
      <a:defRPr sz="1200" kern="1200">
        <a:solidFill>
          <a:schemeClr val="tx1"/>
        </a:solidFill>
        <a:latin typeface="+mn-lt"/>
        <a:ea typeface="+mn-ea"/>
        <a:cs typeface="+mn-cs"/>
      </a:defRPr>
    </a:lvl7pPr>
    <a:lvl8pPr marL="3200010" algn="l" defTabSz="914288" rtl="0" eaLnBrk="1" latinLnBrk="0" hangingPunct="1">
      <a:defRPr sz="1200" kern="1200">
        <a:solidFill>
          <a:schemeClr val="tx1"/>
        </a:solidFill>
        <a:latin typeface="+mn-lt"/>
        <a:ea typeface="+mn-ea"/>
        <a:cs typeface="+mn-cs"/>
      </a:defRPr>
    </a:lvl8pPr>
    <a:lvl9pPr marL="3657153" algn="l" defTabSz="91428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8</a:t>
            </a:fld>
            <a:endParaRPr lang="en-US"/>
          </a:p>
        </p:txBody>
      </p:sp>
    </p:spTree>
    <p:extLst>
      <p:ext uri="{BB962C8B-B14F-4D97-AF65-F5344CB8AC3E}">
        <p14:creationId xmlns:p14="http://schemas.microsoft.com/office/powerpoint/2010/main" val="3468355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9</a:t>
            </a:fld>
            <a:endParaRPr lang="en-US"/>
          </a:p>
        </p:txBody>
      </p:sp>
    </p:spTree>
    <p:extLst>
      <p:ext uri="{BB962C8B-B14F-4D97-AF65-F5344CB8AC3E}">
        <p14:creationId xmlns:p14="http://schemas.microsoft.com/office/powerpoint/2010/main" val="1696514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10</a:t>
            </a:fld>
            <a:endParaRPr lang="en-US"/>
          </a:p>
        </p:txBody>
      </p:sp>
    </p:spTree>
    <p:extLst>
      <p:ext uri="{BB962C8B-B14F-4D97-AF65-F5344CB8AC3E}">
        <p14:creationId xmlns:p14="http://schemas.microsoft.com/office/powerpoint/2010/main" val="286155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11</a:t>
            </a:fld>
            <a:endParaRPr lang="en-US"/>
          </a:p>
        </p:txBody>
      </p:sp>
    </p:spTree>
    <p:extLst>
      <p:ext uri="{BB962C8B-B14F-4D97-AF65-F5344CB8AC3E}">
        <p14:creationId xmlns:p14="http://schemas.microsoft.com/office/powerpoint/2010/main" val="1644831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12</a:t>
            </a:fld>
            <a:endParaRPr lang="en-US"/>
          </a:p>
        </p:txBody>
      </p:sp>
    </p:spTree>
    <p:extLst>
      <p:ext uri="{BB962C8B-B14F-4D97-AF65-F5344CB8AC3E}">
        <p14:creationId xmlns:p14="http://schemas.microsoft.com/office/powerpoint/2010/main" val="1869164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13</a:t>
            </a:fld>
            <a:endParaRPr lang="en-US"/>
          </a:p>
        </p:txBody>
      </p:sp>
    </p:spTree>
    <p:extLst>
      <p:ext uri="{BB962C8B-B14F-4D97-AF65-F5344CB8AC3E}">
        <p14:creationId xmlns:p14="http://schemas.microsoft.com/office/powerpoint/2010/main" val="3667982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14</a:t>
            </a:fld>
            <a:endParaRPr lang="en-US"/>
          </a:p>
        </p:txBody>
      </p:sp>
    </p:spTree>
    <p:extLst>
      <p:ext uri="{BB962C8B-B14F-4D97-AF65-F5344CB8AC3E}">
        <p14:creationId xmlns:p14="http://schemas.microsoft.com/office/powerpoint/2010/main" val="338705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15</a:t>
            </a:fld>
            <a:endParaRPr lang="en-US"/>
          </a:p>
        </p:txBody>
      </p:sp>
    </p:spTree>
    <p:extLst>
      <p:ext uri="{BB962C8B-B14F-4D97-AF65-F5344CB8AC3E}">
        <p14:creationId xmlns:p14="http://schemas.microsoft.com/office/powerpoint/2010/main" val="3269820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16</a:t>
            </a:fld>
            <a:endParaRPr lang="en-US"/>
          </a:p>
        </p:txBody>
      </p:sp>
    </p:spTree>
    <p:extLst>
      <p:ext uri="{BB962C8B-B14F-4D97-AF65-F5344CB8AC3E}">
        <p14:creationId xmlns:p14="http://schemas.microsoft.com/office/powerpoint/2010/main" val="1990480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17</a:t>
            </a:fld>
            <a:endParaRPr lang="en-US"/>
          </a:p>
        </p:txBody>
      </p:sp>
    </p:spTree>
    <p:extLst>
      <p:ext uri="{BB962C8B-B14F-4D97-AF65-F5344CB8AC3E}">
        <p14:creationId xmlns:p14="http://schemas.microsoft.com/office/powerpoint/2010/main" val="2557089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18</a:t>
            </a:fld>
            <a:endParaRPr lang="en-US"/>
          </a:p>
        </p:txBody>
      </p:sp>
    </p:spTree>
    <p:extLst>
      <p:ext uri="{BB962C8B-B14F-4D97-AF65-F5344CB8AC3E}">
        <p14:creationId xmlns:p14="http://schemas.microsoft.com/office/powerpoint/2010/main" val="2297985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7C7583-260F-4C62-9883-02D74C0DB65D}" type="slidenum">
              <a:rPr lang="en-US" smtClean="0"/>
              <a:t>19</a:t>
            </a:fld>
            <a:endParaRPr lang="en-US"/>
          </a:p>
        </p:txBody>
      </p:sp>
    </p:spTree>
    <p:extLst>
      <p:ext uri="{BB962C8B-B14F-4D97-AF65-F5344CB8AC3E}">
        <p14:creationId xmlns:p14="http://schemas.microsoft.com/office/powerpoint/2010/main" val="86197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4FA7DA-92A6-4A8F-BE4C-BCDECB62301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208279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4FA7DA-92A6-4A8F-BE4C-BCDECB62301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1425782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4FA7DA-92A6-4A8F-BE4C-BCDECB62301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660428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4FA7DA-92A6-4A8F-BE4C-BCDECB62301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3936300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4FA7DA-92A6-4A8F-BE4C-BCDECB623011}"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253324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4FA7DA-92A6-4A8F-BE4C-BCDECB623011}"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2625092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4FA7DA-92A6-4A8F-BE4C-BCDECB623011}"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2813641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4FA7DA-92A6-4A8F-BE4C-BCDECB62301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196444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4FA7DA-92A6-4A8F-BE4C-BCDECB62301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3476471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4FA7DA-92A6-4A8F-BE4C-BCDECB62301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3563735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4FA7DA-92A6-4A8F-BE4C-BCDECB62301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92AAC0-AF8A-4DC5-AFD4-57312F3EAC66}" type="slidenum">
              <a:rPr lang="en-US" smtClean="0"/>
              <a:t>‹#›</a:t>
            </a:fld>
            <a:endParaRPr lang="en-US"/>
          </a:p>
        </p:txBody>
      </p:sp>
    </p:spTree>
    <p:extLst>
      <p:ext uri="{BB962C8B-B14F-4D97-AF65-F5344CB8AC3E}">
        <p14:creationId xmlns:p14="http://schemas.microsoft.com/office/powerpoint/2010/main" val="92066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11/5/2025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09640409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6AD10B-4704-13E7-E3A2-2E60353F23DD}"/>
              </a:ext>
            </a:extLst>
          </p:cNvPr>
          <p:cNvSpPr txBox="1"/>
          <p:nvPr/>
        </p:nvSpPr>
        <p:spPr>
          <a:xfrm>
            <a:off x="2286000" y="2651608"/>
            <a:ext cx="4572000" cy="1554785"/>
          </a:xfrm>
          <a:prstGeom prst="rect">
            <a:avLst/>
          </a:prstGeom>
          <a:noFill/>
        </p:spPr>
        <p:txBody>
          <a:bodyPr wrap="square">
            <a:spAutoFit/>
          </a:bodyPr>
          <a:lstStyle/>
          <a:p>
            <a:pPr algn="ctr">
              <a:lnSpc>
                <a:spcPct val="150000"/>
              </a:lnSpc>
              <a:spcBef>
                <a:spcPts val="554"/>
              </a:spcBef>
              <a:spcAft>
                <a:spcPts val="554"/>
              </a:spcAft>
            </a:pPr>
            <a:r>
              <a:rPr lang="en-US" sz="1800" b="1" dirty="0">
                <a:latin typeface="Arial" panose="020B0604020202020204" pitchFamily="34" charset="0"/>
                <a:ea typeface="Verdana" panose="020B0604030504040204" pitchFamily="34" charset="0"/>
                <a:cs typeface="Arial" panose="020B0604020202020204" pitchFamily="34" charset="0"/>
              </a:rPr>
              <a:t>NC_S100</a:t>
            </a:r>
          </a:p>
          <a:p>
            <a:pPr algn="ctr">
              <a:lnSpc>
                <a:spcPct val="150000"/>
              </a:lnSpc>
              <a:spcBef>
                <a:spcPts val="554"/>
              </a:spcBef>
              <a:spcAft>
                <a:spcPts val="554"/>
              </a:spcAft>
            </a:pPr>
            <a:r>
              <a:rPr lang="en-US" sz="1800" b="1" dirty="0">
                <a:latin typeface="Arial" panose="020B0604020202020204" pitchFamily="34" charset="0"/>
                <a:ea typeface="Verdana" panose="020B0604030504040204" pitchFamily="34" charset="0"/>
                <a:cs typeface="Arial" panose="020B0604020202020204" pitchFamily="34" charset="0"/>
              </a:rPr>
              <a:t>S-100 Exchange set Builder</a:t>
            </a:r>
          </a:p>
          <a:p>
            <a:pPr algn="ctr">
              <a:lnSpc>
                <a:spcPct val="150000"/>
              </a:lnSpc>
              <a:spcBef>
                <a:spcPts val="554"/>
              </a:spcBef>
              <a:spcAft>
                <a:spcPts val="554"/>
              </a:spcAft>
            </a:pPr>
            <a:r>
              <a:rPr lang="en-US" sz="1600" b="1" dirty="0">
                <a:latin typeface="Arial" panose="020B0604020202020204" pitchFamily="34" charset="0"/>
                <a:ea typeface="Verdana" panose="020B0604030504040204" pitchFamily="34" charset="0"/>
                <a:cs typeface="Arial" panose="020B0604020202020204" pitchFamily="34" charset="0"/>
              </a:rPr>
              <a:t>Inception Report</a:t>
            </a:r>
          </a:p>
        </p:txBody>
      </p:sp>
    </p:spTree>
    <p:extLst>
      <p:ext uri="{BB962C8B-B14F-4D97-AF65-F5344CB8AC3E}">
        <p14:creationId xmlns:p14="http://schemas.microsoft.com/office/powerpoint/2010/main" val="656902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002894-C0A1-AEE4-7425-8C63DF1954DA}"/>
              </a:ext>
            </a:extLst>
          </p:cNvPr>
          <p:cNvSpPr txBox="1"/>
          <p:nvPr/>
        </p:nvSpPr>
        <p:spPr>
          <a:xfrm>
            <a:off x="219075" y="501134"/>
            <a:ext cx="4572000" cy="369332"/>
          </a:xfrm>
          <a:prstGeom prst="rect">
            <a:avLst/>
          </a:prstGeom>
          <a:noFill/>
        </p:spPr>
        <p:txBody>
          <a:bodyPr wrap="square">
            <a:spAutoFit/>
          </a:bodyPr>
          <a:lstStyle/>
          <a:p>
            <a:pPr algn="just"/>
            <a:r>
              <a:rPr lang="en-US" sz="1800" b="1" dirty="0">
                <a:ea typeface="Verdana" panose="020B0604030504040204" pitchFamily="34" charset="0"/>
              </a:rPr>
              <a:t>Project Inception</a:t>
            </a:r>
          </a:p>
        </p:txBody>
      </p:sp>
      <p:sp>
        <p:nvSpPr>
          <p:cNvPr id="5" name="TextBox 4">
            <a:extLst>
              <a:ext uri="{FF2B5EF4-FFF2-40B4-BE49-F238E27FC236}">
                <a16:creationId xmlns:a16="http://schemas.microsoft.com/office/drawing/2014/main" id="{D3F95B9A-5137-8C38-7901-8DD313355F29}"/>
              </a:ext>
            </a:extLst>
          </p:cNvPr>
          <p:cNvSpPr txBox="1"/>
          <p:nvPr/>
        </p:nvSpPr>
        <p:spPr>
          <a:xfrm>
            <a:off x="219075" y="870466"/>
            <a:ext cx="4572000" cy="4196020"/>
          </a:xfrm>
          <a:prstGeom prst="rect">
            <a:avLst/>
          </a:prstGeom>
          <a:noFill/>
        </p:spPr>
        <p:txBody>
          <a:bodyPr wrap="square">
            <a:spAutoFit/>
          </a:bodyPr>
          <a:lstStyle/>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Project Overview</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Team Foundation</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Enterprise Alignment</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Scope Exploration</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Architecture Strategy</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Release Planning</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Test Strategy</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Vision Development</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Funding and Resources</a:t>
            </a:r>
          </a:p>
          <a:p>
            <a:pPr marL="422041" indent="-422041" algn="l">
              <a:lnSpc>
                <a:spcPct val="150000"/>
              </a:lnSpc>
              <a:buFont typeface="+mj-lt"/>
              <a:buAutoNum type="arabicPeriod"/>
            </a:pPr>
            <a:r>
              <a:rPr lang="en-US" sz="1800" b="0" spc="28" dirty="0">
                <a:solidFill>
                  <a:schemeClr val="tx1"/>
                </a:solidFill>
                <a:latin typeface="Arial" panose="020B0604020202020204" pitchFamily="34" charset="0"/>
                <a:cs typeface="Arial" panose="020B0604020202020204" pitchFamily="34" charset="0"/>
              </a:rPr>
              <a:t>Risks and Dependencies</a:t>
            </a:r>
          </a:p>
        </p:txBody>
      </p:sp>
    </p:spTree>
    <p:extLst>
      <p:ext uri="{BB962C8B-B14F-4D97-AF65-F5344CB8AC3E}">
        <p14:creationId xmlns:p14="http://schemas.microsoft.com/office/powerpoint/2010/main" val="1584717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11E7216A-3E66-C819-BE0C-AE26B51244B7}"/>
              </a:ext>
            </a:extLst>
          </p:cNvPr>
          <p:cNvSpPr txBox="1">
            <a:spLocks/>
          </p:cNvSpPr>
          <p:nvPr/>
        </p:nvSpPr>
        <p:spPr>
          <a:xfrm>
            <a:off x="189343" y="487079"/>
            <a:ext cx="2928611"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Project Overview</a:t>
            </a:r>
          </a:p>
        </p:txBody>
      </p:sp>
      <p:sp>
        <p:nvSpPr>
          <p:cNvPr id="3" name="Rectangle 2"/>
          <p:cNvSpPr/>
          <p:nvPr/>
        </p:nvSpPr>
        <p:spPr>
          <a:xfrm>
            <a:off x="189343" y="1130799"/>
            <a:ext cx="8699823" cy="3365024"/>
          </a:xfrm>
          <a:prstGeom prst="rect">
            <a:avLst/>
          </a:prstGeom>
        </p:spPr>
        <p:txBody>
          <a:bodyPr wrap="square">
            <a:spAutoFit/>
          </a:bodyPr>
          <a:lstStyle/>
          <a:p>
            <a:pPr>
              <a:lnSpc>
                <a:spcPct val="150000"/>
              </a:lnSpc>
            </a:pPr>
            <a:r>
              <a:rPr lang="en-US" b="1" dirty="0">
                <a:solidFill>
                  <a:srgbClr val="C00000"/>
                </a:solidFill>
                <a:latin typeface="Arial" panose="020B0604020202020204" pitchFamily="34" charset="0"/>
                <a:cs typeface="Arial" panose="020B0604020202020204" pitchFamily="34" charset="0"/>
              </a:rPr>
              <a:t>Project Name: </a:t>
            </a:r>
            <a:r>
              <a:rPr lang="en-US" dirty="0">
                <a:latin typeface="Arial" panose="020B0604020202020204" pitchFamily="34" charset="0"/>
                <a:ea typeface="Verdana" panose="020B0604030504040204" pitchFamily="34" charset="0"/>
                <a:cs typeface="Arial" panose="020B0604020202020204" pitchFamily="34" charset="0"/>
              </a:rPr>
              <a:t>S-100 Exchange set builder.</a:t>
            </a:r>
          </a:p>
          <a:p>
            <a:pPr algn="just">
              <a:lnSpc>
                <a:spcPct val="150000"/>
              </a:lnSpc>
            </a:pPr>
            <a:r>
              <a:rPr lang="en-US" b="1" dirty="0">
                <a:solidFill>
                  <a:srgbClr val="C00000"/>
                </a:solidFill>
                <a:latin typeface="Arial" panose="020B0604020202020204" pitchFamily="34" charset="0"/>
                <a:cs typeface="Arial" panose="020B0604020202020204" pitchFamily="34" charset="0"/>
              </a:rPr>
              <a:t>Project Description: </a:t>
            </a:r>
            <a:r>
              <a:rPr lang="en-US" dirty="0">
                <a:latin typeface="Arial" panose="020B0604020202020204" pitchFamily="34" charset="0"/>
                <a:cs typeface="Arial" panose="020B0604020202020204" pitchFamily="34" charset="0"/>
              </a:rPr>
              <a:t>The S-100 discovery metadata for information exchange catalogues profile provides a specification for describing and creating exchange catalogues that enables users to identify, discover and manage content of the S-100 Exchange Sets. More importantly it leverages XML to allow machine to machine discovery and exchange of information about geographic datasets commonly produced by hydrographic organizations.</a:t>
            </a:r>
          </a:p>
          <a:p>
            <a:pPr algn="just">
              <a:lnSpc>
                <a:spcPct val="15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1255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11E7216A-3E66-C819-BE0C-AE26B51244B7}"/>
              </a:ext>
            </a:extLst>
          </p:cNvPr>
          <p:cNvSpPr txBox="1">
            <a:spLocks/>
          </p:cNvSpPr>
          <p:nvPr/>
        </p:nvSpPr>
        <p:spPr>
          <a:xfrm>
            <a:off x="189342" y="534704"/>
            <a:ext cx="2928611"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Team Foundation</a:t>
            </a:r>
          </a:p>
        </p:txBody>
      </p:sp>
      <p:graphicFrame>
        <p:nvGraphicFramePr>
          <p:cNvPr id="2" name="Table 1"/>
          <p:cNvGraphicFramePr>
            <a:graphicFrameLocks noGrp="1"/>
          </p:cNvGraphicFramePr>
          <p:nvPr>
            <p:extLst>
              <p:ext uri="{D42A27DB-BD31-4B8C-83A1-F6EECF244321}">
                <p14:modId xmlns:p14="http://schemas.microsoft.com/office/powerpoint/2010/main" val="1830538878"/>
              </p:ext>
            </p:extLst>
          </p:nvPr>
        </p:nvGraphicFramePr>
        <p:xfrm>
          <a:off x="430642" y="1620812"/>
          <a:ext cx="8220140" cy="1112520"/>
        </p:xfrm>
        <a:graphic>
          <a:graphicData uri="http://schemas.openxmlformats.org/drawingml/2006/table">
            <a:tbl>
              <a:tblPr firstRow="1" bandRow="1">
                <a:tableStyleId>{72833802-FEF1-4C79-8D5D-14CF1EAF98D9}</a:tableStyleId>
              </a:tblPr>
              <a:tblGrid>
                <a:gridCol w="620127">
                  <a:extLst>
                    <a:ext uri="{9D8B030D-6E8A-4147-A177-3AD203B41FA5}">
                      <a16:colId xmlns:a16="http://schemas.microsoft.com/office/drawing/2014/main" val="641691610"/>
                    </a:ext>
                  </a:extLst>
                </a:gridCol>
                <a:gridCol w="3443873">
                  <a:extLst>
                    <a:ext uri="{9D8B030D-6E8A-4147-A177-3AD203B41FA5}">
                      <a16:colId xmlns:a16="http://schemas.microsoft.com/office/drawing/2014/main" val="1687623860"/>
                    </a:ext>
                  </a:extLst>
                </a:gridCol>
                <a:gridCol w="4156140">
                  <a:extLst>
                    <a:ext uri="{9D8B030D-6E8A-4147-A177-3AD203B41FA5}">
                      <a16:colId xmlns:a16="http://schemas.microsoft.com/office/drawing/2014/main" val="2080376605"/>
                    </a:ext>
                  </a:extLst>
                </a:gridCol>
              </a:tblGrid>
              <a:tr h="370840">
                <a:tc>
                  <a:txBody>
                    <a:bodyPr/>
                    <a:lstStyle/>
                    <a:p>
                      <a:r>
                        <a:rPr lang="en-IN" sz="1600" dirty="0">
                          <a:latin typeface="Arial" panose="020B0604020202020204" pitchFamily="34" charset="0"/>
                          <a:cs typeface="Arial" panose="020B0604020202020204" pitchFamily="34" charset="0"/>
                        </a:rPr>
                        <a:t>#</a:t>
                      </a:r>
                    </a:p>
                  </a:txBody>
                  <a:tcPr anchor="ctr"/>
                </a:tc>
                <a:tc>
                  <a:txBody>
                    <a:bodyPr/>
                    <a:lstStyle/>
                    <a:p>
                      <a:r>
                        <a:rPr lang="en-IN" sz="1600" dirty="0">
                          <a:latin typeface="Arial" panose="020B0604020202020204" pitchFamily="34" charset="0"/>
                          <a:cs typeface="Arial" panose="020B0604020202020204" pitchFamily="34" charset="0"/>
                        </a:rPr>
                        <a:t>Name</a:t>
                      </a:r>
                    </a:p>
                  </a:txBody>
                  <a:tcPr anchor="ctr"/>
                </a:tc>
                <a:tc>
                  <a:txBody>
                    <a:bodyPr/>
                    <a:lstStyle/>
                    <a:p>
                      <a:r>
                        <a:rPr lang="en-IN" sz="1600" dirty="0">
                          <a:latin typeface="Arial" panose="020B0604020202020204" pitchFamily="34" charset="0"/>
                          <a:cs typeface="Arial" panose="020B0604020202020204" pitchFamily="34" charset="0"/>
                        </a:rPr>
                        <a:t>Role</a:t>
                      </a:r>
                    </a:p>
                  </a:txBody>
                  <a:tcPr anchor="ctr"/>
                </a:tc>
                <a:extLst>
                  <a:ext uri="{0D108BD9-81ED-4DB2-BD59-A6C34878D82A}">
                    <a16:rowId xmlns:a16="http://schemas.microsoft.com/office/drawing/2014/main" val="51064792"/>
                  </a:ext>
                </a:extLst>
              </a:tr>
              <a:tr h="370840">
                <a:tc>
                  <a:txBody>
                    <a:bodyPr/>
                    <a:lstStyle/>
                    <a:p>
                      <a:r>
                        <a:rPr lang="en-IN" sz="1600" dirty="0">
                          <a:latin typeface="Arial" panose="020B0604020202020204" pitchFamily="34" charset="0"/>
                          <a:cs typeface="Arial" panose="020B0604020202020204" pitchFamily="34" charset="0"/>
                        </a:rPr>
                        <a:t>1</a:t>
                      </a:r>
                    </a:p>
                  </a:txBody>
                  <a:tcPr anchor="ctr"/>
                </a:tc>
                <a:tc>
                  <a:txBody>
                    <a:bodyPr/>
                    <a:lstStyle/>
                    <a:p>
                      <a:r>
                        <a:rPr lang="en-IN" sz="1600" dirty="0">
                          <a:latin typeface="Arial" panose="020B0604020202020204" pitchFamily="34" charset="0"/>
                          <a:cs typeface="Arial" panose="020B0604020202020204" pitchFamily="34" charset="0"/>
                        </a:rPr>
                        <a:t>john</a:t>
                      </a:r>
                    </a:p>
                  </a:txBody>
                  <a:tcPr anchor="ctr"/>
                </a:tc>
                <a:tc>
                  <a:txBody>
                    <a:bodyPr/>
                    <a:lstStyle/>
                    <a:p>
                      <a:r>
                        <a:rPr lang="en-IN" sz="1600" dirty="0">
                          <a:latin typeface="Arial" panose="020B0604020202020204" pitchFamily="34" charset="0"/>
                          <a:cs typeface="Arial" panose="020B0604020202020204" pitchFamily="34" charset="0"/>
                        </a:rPr>
                        <a:t>Project Manager</a:t>
                      </a:r>
                    </a:p>
                  </a:txBody>
                  <a:tcPr anchor="ctr"/>
                </a:tc>
                <a:extLst>
                  <a:ext uri="{0D108BD9-81ED-4DB2-BD59-A6C34878D82A}">
                    <a16:rowId xmlns:a16="http://schemas.microsoft.com/office/drawing/2014/main" val="1582449920"/>
                  </a:ext>
                </a:extLst>
              </a:tr>
              <a:tr h="370840">
                <a:tc>
                  <a:txBody>
                    <a:bodyPr/>
                    <a:lstStyle/>
                    <a:p>
                      <a:r>
                        <a:rPr lang="en-IN" sz="1600" dirty="0">
                          <a:latin typeface="Arial" panose="020B0604020202020204" pitchFamily="34" charset="0"/>
                          <a:cs typeface="Arial" panose="020B0604020202020204" pitchFamily="34" charset="0"/>
                        </a:rPr>
                        <a:t>2</a:t>
                      </a:r>
                    </a:p>
                  </a:txBody>
                  <a:tcPr anchor="ctr"/>
                </a:tc>
                <a:tc>
                  <a:txBody>
                    <a:bodyPr/>
                    <a:lstStyle/>
                    <a:p>
                      <a:r>
                        <a:rPr lang="en-IN" sz="1600" dirty="0">
                          <a:latin typeface="Arial" panose="020B0604020202020204" pitchFamily="34" charset="0"/>
                          <a:cs typeface="Arial" panose="020B0604020202020204" pitchFamily="34" charset="0"/>
                        </a:rPr>
                        <a:t>rob</a:t>
                      </a:r>
                    </a:p>
                  </a:txBody>
                  <a:tcPr anchor="ctr"/>
                </a:tc>
                <a:tc>
                  <a:txBody>
                    <a:bodyPr/>
                    <a:lstStyle/>
                    <a:p>
                      <a:r>
                        <a:rPr lang="en-IN" sz="1600" dirty="0">
                          <a:latin typeface="Arial" panose="020B0604020202020204" pitchFamily="34" charset="0"/>
                          <a:cs typeface="Arial" panose="020B0604020202020204" pitchFamily="34" charset="0"/>
                        </a:rPr>
                        <a:t>Project owner</a:t>
                      </a:r>
                    </a:p>
                  </a:txBody>
                  <a:tcPr anchor="ctr"/>
                </a:tc>
                <a:extLst>
                  <a:ext uri="{0D108BD9-81ED-4DB2-BD59-A6C34878D82A}">
                    <a16:rowId xmlns:a16="http://schemas.microsoft.com/office/drawing/2014/main" val="2992443095"/>
                  </a:ext>
                </a:extLst>
              </a:tr>
            </a:tbl>
          </a:graphicData>
        </a:graphic>
      </p:graphicFrame>
      <p:sp>
        <p:nvSpPr>
          <p:cNvPr id="4" name="TextBox 3"/>
          <p:cNvSpPr txBox="1"/>
          <p:nvPr/>
        </p:nvSpPr>
        <p:spPr>
          <a:xfrm>
            <a:off x="430642" y="1220702"/>
            <a:ext cx="2045945" cy="400110"/>
          </a:xfrm>
          <a:prstGeom prst="rect">
            <a:avLst/>
          </a:prstGeom>
          <a:noFill/>
        </p:spPr>
        <p:txBody>
          <a:bodyPr wrap="none" rtlCol="0">
            <a:spAutoFit/>
          </a:bodyPr>
          <a:lstStyle/>
          <a:p>
            <a:r>
              <a:rPr lang="en-IN" sz="2000" b="1" dirty="0">
                <a:latin typeface="Arial" panose="020B0604020202020204" pitchFamily="34" charset="0"/>
                <a:cs typeface="Arial" panose="020B0604020202020204" pitchFamily="34" charset="0"/>
              </a:rPr>
              <a:t>Team members</a:t>
            </a:r>
          </a:p>
        </p:txBody>
      </p:sp>
      <p:sp>
        <p:nvSpPr>
          <p:cNvPr id="6" name="TextBox 5"/>
          <p:cNvSpPr txBox="1"/>
          <p:nvPr/>
        </p:nvSpPr>
        <p:spPr>
          <a:xfrm>
            <a:off x="430642" y="2956643"/>
            <a:ext cx="1795684" cy="400110"/>
          </a:xfrm>
          <a:prstGeom prst="rect">
            <a:avLst/>
          </a:prstGeom>
          <a:noFill/>
        </p:spPr>
        <p:txBody>
          <a:bodyPr wrap="none" rtlCol="0">
            <a:spAutoFit/>
          </a:bodyPr>
          <a:lstStyle/>
          <a:p>
            <a:r>
              <a:rPr lang="en-IN" sz="2000" b="1" dirty="0">
                <a:latin typeface="Arial" panose="020B0604020202020204" pitchFamily="34" charset="0"/>
                <a:cs typeface="Arial" panose="020B0604020202020204" pitchFamily="34" charset="0"/>
              </a:rPr>
              <a:t>Stakeholders</a:t>
            </a:r>
          </a:p>
        </p:txBody>
      </p:sp>
      <p:graphicFrame>
        <p:nvGraphicFramePr>
          <p:cNvPr id="7" name="Table 6"/>
          <p:cNvGraphicFramePr>
            <a:graphicFrameLocks noGrp="1"/>
          </p:cNvGraphicFramePr>
          <p:nvPr>
            <p:extLst>
              <p:ext uri="{D42A27DB-BD31-4B8C-83A1-F6EECF244321}">
                <p14:modId xmlns:p14="http://schemas.microsoft.com/office/powerpoint/2010/main" val="3283785165"/>
              </p:ext>
            </p:extLst>
          </p:nvPr>
        </p:nvGraphicFramePr>
        <p:xfrm>
          <a:off x="430642" y="3418798"/>
          <a:ext cx="8220140" cy="741680"/>
        </p:xfrm>
        <a:graphic>
          <a:graphicData uri="http://schemas.openxmlformats.org/drawingml/2006/table">
            <a:tbl>
              <a:tblPr firstRow="1" bandRow="1">
                <a:tableStyleId>{72833802-FEF1-4C79-8D5D-14CF1EAF98D9}</a:tableStyleId>
              </a:tblPr>
              <a:tblGrid>
                <a:gridCol w="620127">
                  <a:extLst>
                    <a:ext uri="{9D8B030D-6E8A-4147-A177-3AD203B41FA5}">
                      <a16:colId xmlns:a16="http://schemas.microsoft.com/office/drawing/2014/main" val="641691610"/>
                    </a:ext>
                  </a:extLst>
                </a:gridCol>
                <a:gridCol w="3443873">
                  <a:extLst>
                    <a:ext uri="{9D8B030D-6E8A-4147-A177-3AD203B41FA5}">
                      <a16:colId xmlns:a16="http://schemas.microsoft.com/office/drawing/2014/main" val="1687623860"/>
                    </a:ext>
                  </a:extLst>
                </a:gridCol>
                <a:gridCol w="4156140">
                  <a:extLst>
                    <a:ext uri="{9D8B030D-6E8A-4147-A177-3AD203B41FA5}">
                      <a16:colId xmlns:a16="http://schemas.microsoft.com/office/drawing/2014/main" val="2080376605"/>
                    </a:ext>
                  </a:extLst>
                </a:gridCol>
              </a:tblGrid>
              <a:tr h="370840">
                <a:tc>
                  <a:txBody>
                    <a:bodyPr/>
                    <a:lstStyle/>
                    <a:p>
                      <a:r>
                        <a:rPr lang="en-IN" sz="1600" dirty="0">
                          <a:latin typeface="Arial" panose="020B0604020202020204" pitchFamily="34" charset="0"/>
                          <a:cs typeface="Arial" panose="020B0604020202020204" pitchFamily="34" charset="0"/>
                        </a:rPr>
                        <a:t>#</a:t>
                      </a:r>
                    </a:p>
                  </a:txBody>
                  <a:tcPr anchor="ctr"/>
                </a:tc>
                <a:tc>
                  <a:txBody>
                    <a:bodyPr/>
                    <a:lstStyle/>
                    <a:p>
                      <a:r>
                        <a:rPr lang="en-IN" sz="1600" dirty="0">
                          <a:latin typeface="Arial" panose="020B0604020202020204" pitchFamily="34" charset="0"/>
                          <a:cs typeface="Arial" panose="020B0604020202020204" pitchFamily="34" charset="0"/>
                        </a:rPr>
                        <a:t>Name</a:t>
                      </a:r>
                    </a:p>
                  </a:txBody>
                  <a:tcPr anchor="ctr"/>
                </a:tc>
                <a:tc>
                  <a:txBody>
                    <a:bodyPr/>
                    <a:lstStyle/>
                    <a:p>
                      <a:r>
                        <a:rPr lang="en-IN" sz="1600" dirty="0">
                          <a:latin typeface="Arial" panose="020B0604020202020204" pitchFamily="34" charset="0"/>
                          <a:cs typeface="Arial" panose="020B0604020202020204" pitchFamily="34" charset="0"/>
                        </a:rPr>
                        <a:t>Interests</a:t>
                      </a:r>
                    </a:p>
                  </a:txBody>
                  <a:tcPr anchor="ctr"/>
                </a:tc>
                <a:extLst>
                  <a:ext uri="{0D108BD9-81ED-4DB2-BD59-A6C34878D82A}">
                    <a16:rowId xmlns:a16="http://schemas.microsoft.com/office/drawing/2014/main" val="51064792"/>
                  </a:ext>
                </a:extLst>
              </a:tr>
              <a:tr h="370840">
                <a:tc>
                  <a:txBody>
                    <a:bodyPr/>
                    <a:lstStyle/>
                    <a:p>
                      <a:r>
                        <a:rPr lang="en-IN" sz="1600" dirty="0">
                          <a:latin typeface="Arial" panose="020B0604020202020204" pitchFamily="34" charset="0"/>
                          <a:cs typeface="Arial" panose="020B0604020202020204" pitchFamily="34" charset="0"/>
                        </a:rPr>
                        <a:t>1</a:t>
                      </a:r>
                    </a:p>
                  </a:txBody>
                  <a:tcPr anchor="ctr"/>
                </a:tc>
                <a:tc>
                  <a:txBody>
                    <a:bodyPr/>
                    <a:lstStyle/>
                    <a:p>
                      <a:r>
                        <a:rPr lang="en-IN" sz="1600" dirty="0">
                          <a:latin typeface="Arial" panose="020B0604020202020204" pitchFamily="34" charset="0"/>
                          <a:cs typeface="Arial" panose="020B0604020202020204" pitchFamily="34" charset="0"/>
                        </a:rPr>
                        <a:t>IIC-IC</a:t>
                      </a:r>
                    </a:p>
                  </a:txBody>
                  <a:tcPr anchor="ctr"/>
                </a:tc>
                <a:tc>
                  <a:txBody>
                    <a:bodyPr/>
                    <a:lstStyle/>
                    <a:p>
                      <a:r>
                        <a:rPr lang="en-IN" sz="1600" dirty="0">
                          <a:latin typeface="Arial" panose="020B0604020202020204" pitchFamily="34" charset="0"/>
                          <a:cs typeface="Arial" panose="020B0604020202020204" pitchFamily="34" charset="0"/>
                        </a:rPr>
                        <a:t>Nautilus</a:t>
                      </a:r>
                      <a:r>
                        <a:rPr lang="en-IN" sz="1600" baseline="0" dirty="0">
                          <a:latin typeface="Arial" panose="020B0604020202020204" pitchFamily="34" charset="0"/>
                          <a:cs typeface="Arial" panose="020B0604020202020204" pitchFamily="34" charset="0"/>
                        </a:rPr>
                        <a:t> Cloud S-100 team</a:t>
                      </a:r>
                      <a:endParaRPr lang="en-IN"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82449920"/>
                  </a:ext>
                </a:extLst>
              </a:tr>
            </a:tbl>
          </a:graphicData>
        </a:graphic>
      </p:graphicFrame>
    </p:spTree>
    <p:extLst>
      <p:ext uri="{BB962C8B-B14F-4D97-AF65-F5344CB8AC3E}">
        <p14:creationId xmlns:p14="http://schemas.microsoft.com/office/powerpoint/2010/main" val="2501684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Enterprise Alignment</a:t>
            </a:r>
          </a:p>
        </p:txBody>
      </p:sp>
      <p:sp>
        <p:nvSpPr>
          <p:cNvPr id="6" name="Rectangle 5"/>
          <p:cNvSpPr/>
          <p:nvPr/>
        </p:nvSpPr>
        <p:spPr>
          <a:xfrm>
            <a:off x="189342" y="1403842"/>
            <a:ext cx="8780487" cy="3693319"/>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enterprise goal of the Nautilus Cloud (NC) is to develop S-100 frame work with the complete set of toolsets such as web, desktop and mobile for managing all nautical products according to international hydrographic standards.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Develop suitable solutions by leveraging the domain experience, existing assets, technology, processes and knowledge to enhance the project efficiency and effectiveness.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Follows the established guidelines and standards to design and develop the nautical solutions.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project aim to improve the organization's market position by introducing innovative S-100 products or services, thereby enhancing its competitive advantage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48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sp>
        <p:nvSpPr>
          <p:cNvPr id="5" name="Rectangle 4"/>
          <p:cNvSpPr/>
          <p:nvPr/>
        </p:nvSpPr>
        <p:spPr>
          <a:xfrm>
            <a:off x="189341" y="1082901"/>
            <a:ext cx="8838545" cy="1754326"/>
          </a:xfrm>
          <a:prstGeom prst="rect">
            <a:avLst/>
          </a:prstGeom>
        </p:spPr>
        <p:txBody>
          <a:bodyPr wrap="square">
            <a:spAutoFit/>
          </a:bodyPr>
          <a:lstStyle/>
          <a:p>
            <a:pPr algn="just">
              <a:lnSpc>
                <a:spcPct val="150000"/>
              </a:lnSpc>
            </a:pPr>
            <a:r>
              <a:rPr lang="en-US" b="1" dirty="0">
                <a:solidFill>
                  <a:srgbClr val="C00000"/>
                </a:solidFill>
                <a:latin typeface="Arial" panose="020B0604020202020204" pitchFamily="34" charset="0"/>
                <a:cs typeface="Arial" panose="020B0604020202020204" pitchFamily="34" charset="0"/>
              </a:rPr>
              <a:t>Project Scope: </a:t>
            </a:r>
          </a:p>
          <a:p>
            <a:pPr algn="just">
              <a:lnSpc>
                <a:spcPct val="150000"/>
              </a:lnSpc>
            </a:pPr>
            <a:r>
              <a:rPr lang="en-US" dirty="0">
                <a:latin typeface="Arial" panose="020B0604020202020204" pitchFamily="34" charset="0"/>
                <a:cs typeface="Arial" panose="020B0604020202020204" pitchFamily="34" charset="0"/>
              </a:rPr>
              <a:t>The scope of the project is to design and develop a web application to manage the S-100 Exchange set by following the S-100 international hydrographic organization (IHO) standards.</a:t>
            </a:r>
          </a:p>
        </p:txBody>
      </p:sp>
      <p:sp>
        <p:nvSpPr>
          <p:cNvPr id="2" name="Rectangle 1"/>
          <p:cNvSpPr/>
          <p:nvPr/>
        </p:nvSpPr>
        <p:spPr>
          <a:xfrm>
            <a:off x="189341" y="2886719"/>
            <a:ext cx="7009745" cy="1338828"/>
          </a:xfrm>
          <a:prstGeom prst="rect">
            <a:avLst/>
          </a:prstGeom>
        </p:spPr>
        <p:txBody>
          <a:bodyPr wrap="square">
            <a:spAutoFit/>
          </a:bodyPr>
          <a:lstStyle/>
          <a:p>
            <a:pPr>
              <a:lnSpc>
                <a:spcPct val="150000"/>
              </a:lnSpc>
            </a:pPr>
            <a:r>
              <a:rPr lang="en-US" b="1" dirty="0">
                <a:solidFill>
                  <a:srgbClr val="C00000"/>
                </a:solidFill>
                <a:latin typeface="Arial" panose="020B0604020202020204" pitchFamily="34" charset="0"/>
                <a:cs typeface="Arial" panose="020B0604020202020204" pitchFamily="34" charset="0"/>
              </a:rPr>
              <a:t>Key Deliverables:</a:t>
            </a:r>
            <a:endParaRPr lang="en-US" b="1" dirty="0">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en-IN" dirty="0">
                <a:latin typeface="Arial" panose="020B0604020202020204" pitchFamily="34" charset="0"/>
                <a:cs typeface="Arial" panose="020B0604020202020204" pitchFamily="34" charset="0"/>
              </a:rPr>
              <a:t>S-100 Exchange set Builder</a:t>
            </a:r>
          </a:p>
          <a:p>
            <a:pPr marL="342900" indent="-342900">
              <a:lnSpc>
                <a:spcPct val="150000"/>
              </a:lnSpc>
              <a:buFont typeface="+mj-lt"/>
              <a:buAutoNum type="arabicPeriod"/>
            </a:pPr>
            <a:r>
              <a:rPr lang="en-IN" dirty="0">
                <a:latin typeface="Arial" panose="020B0604020202020204" pitchFamily="34" charset="0"/>
                <a:cs typeface="Arial" panose="020B0604020202020204" pitchFamily="34" charset="0"/>
              </a:rPr>
              <a:t>S-100 Exchange set Builder APIs</a:t>
            </a:r>
          </a:p>
        </p:txBody>
      </p:sp>
    </p:spTree>
    <p:extLst>
      <p:ext uri="{BB962C8B-B14F-4D97-AF65-F5344CB8AC3E}">
        <p14:creationId xmlns:p14="http://schemas.microsoft.com/office/powerpoint/2010/main" val="1867551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Flow diagram</a:t>
            </a:r>
          </a:p>
        </p:txBody>
      </p:sp>
      <p:pic>
        <p:nvPicPr>
          <p:cNvPr id="7" name="Picture 6"/>
          <p:cNvPicPr>
            <a:picLocks noChangeAspect="1"/>
          </p:cNvPicPr>
          <p:nvPr/>
        </p:nvPicPr>
        <p:blipFill>
          <a:blip r:embed="rId2"/>
          <a:stretch>
            <a:fillRect/>
          </a:stretch>
        </p:blipFill>
        <p:spPr>
          <a:xfrm>
            <a:off x="2814637" y="1042536"/>
            <a:ext cx="2843213" cy="5271227"/>
          </a:xfrm>
          <a:prstGeom prst="rect">
            <a:avLst/>
          </a:prstGeom>
        </p:spPr>
      </p:pic>
    </p:spTree>
    <p:extLst>
      <p:ext uri="{BB962C8B-B14F-4D97-AF65-F5344CB8AC3E}">
        <p14:creationId xmlns:p14="http://schemas.microsoft.com/office/powerpoint/2010/main" val="1218157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sp>
        <p:nvSpPr>
          <p:cNvPr id="5" name="Rectangle 4"/>
          <p:cNvSpPr/>
          <p:nvPr/>
        </p:nvSpPr>
        <p:spPr>
          <a:xfrm>
            <a:off x="189342" y="1082901"/>
            <a:ext cx="8780487" cy="2169825"/>
          </a:xfrm>
          <a:prstGeom prst="rect">
            <a:avLst/>
          </a:prstGeom>
        </p:spPr>
        <p:txBody>
          <a:bodyPr wrap="square">
            <a:spAutoFit/>
          </a:bodyPr>
          <a:lstStyle/>
          <a:p>
            <a:pPr algn="just">
              <a:lnSpc>
                <a:spcPct val="150000"/>
              </a:lnSpc>
            </a:pPr>
            <a:r>
              <a:rPr lang="en-US" b="1" dirty="0">
                <a:solidFill>
                  <a:srgbClr val="C00000"/>
                </a:solidFill>
                <a:latin typeface="Arial" panose="020B0604020202020204" pitchFamily="34" charset="0"/>
                <a:cs typeface="Arial" panose="020B0604020202020204" pitchFamily="34" charset="0"/>
              </a:rPr>
              <a:t>Epics: </a:t>
            </a:r>
          </a:p>
          <a:p>
            <a:pPr marL="342900" indent="-342900" algn="just">
              <a:lnSpc>
                <a:spcPct val="150000"/>
              </a:lnSpc>
              <a:buAutoNum type="arabicPeriod"/>
            </a:pPr>
            <a:r>
              <a:rPr lang="en-US" dirty="0">
                <a:latin typeface="Arial" panose="020B0604020202020204" pitchFamily="34" charset="0"/>
                <a:cs typeface="Arial" panose="020B0604020202020204" pitchFamily="34" charset="0"/>
              </a:rPr>
              <a:t>Workspace</a:t>
            </a:r>
          </a:p>
          <a:p>
            <a:pPr marL="342900" indent="-342900" algn="just">
              <a:lnSpc>
                <a:spcPct val="150000"/>
              </a:lnSpc>
              <a:buAutoNum type="arabicPeriod"/>
            </a:pPr>
            <a:r>
              <a:rPr lang="en-US" dirty="0">
                <a:latin typeface="Arial" panose="020B0604020202020204" pitchFamily="34" charset="0"/>
                <a:cs typeface="Arial" panose="020B0604020202020204" pitchFamily="34" charset="0"/>
              </a:rPr>
              <a:t>Resources (signing keys, certificates, encryption keys)</a:t>
            </a:r>
          </a:p>
          <a:p>
            <a:pPr marL="342900" indent="-342900" algn="just">
              <a:lnSpc>
                <a:spcPct val="150000"/>
              </a:lnSpc>
              <a:buAutoNum type="arabicPeriod"/>
            </a:pPr>
            <a:r>
              <a:rPr lang="en-US" dirty="0">
                <a:latin typeface="Arial" panose="020B0604020202020204" pitchFamily="34" charset="0"/>
                <a:cs typeface="Arial" panose="020B0604020202020204" pitchFamily="34" charset="0"/>
              </a:rPr>
              <a:t>Exchange set</a:t>
            </a:r>
          </a:p>
          <a:p>
            <a:pPr marL="342900" indent="-342900" algn="just">
              <a:lnSpc>
                <a:spcPct val="150000"/>
              </a:lnSpc>
              <a:buAutoNum type="arabicPeriod"/>
            </a:pPr>
            <a:r>
              <a:rPr lang="en-US" dirty="0">
                <a:latin typeface="Arial" panose="020B0604020202020204" pitchFamily="34" charset="0"/>
                <a:cs typeface="Arial" panose="020B0604020202020204" pitchFamily="34" charset="0"/>
              </a:rPr>
              <a:t>Content (Datasets, Supporting files, Catalogues)</a:t>
            </a:r>
          </a:p>
        </p:txBody>
      </p:sp>
    </p:spTree>
    <p:extLst>
      <p:ext uri="{BB962C8B-B14F-4D97-AF65-F5344CB8AC3E}">
        <p14:creationId xmlns:p14="http://schemas.microsoft.com/office/powerpoint/2010/main" val="631439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2589005809"/>
              </p:ext>
            </p:extLst>
          </p:nvPr>
        </p:nvGraphicFramePr>
        <p:xfrm>
          <a:off x="83128" y="1025236"/>
          <a:ext cx="8968508" cy="5782756"/>
        </p:xfrm>
        <a:graphic>
          <a:graphicData uri="http://schemas.openxmlformats.org/drawingml/2006/table">
            <a:tbl>
              <a:tblPr firstRow="1" firstCol="1" bandRow="1">
                <a:tableStyleId>{85BE263C-DBD7-4A20-BB59-AAB30ACAA65A}</a:tableStyleId>
              </a:tblPr>
              <a:tblGrid>
                <a:gridCol w="942108">
                  <a:extLst>
                    <a:ext uri="{9D8B030D-6E8A-4147-A177-3AD203B41FA5}">
                      <a16:colId xmlns:a16="http://schemas.microsoft.com/office/drawing/2014/main" val="2269260783"/>
                    </a:ext>
                  </a:extLst>
                </a:gridCol>
                <a:gridCol w="8026400">
                  <a:extLst>
                    <a:ext uri="{9D8B030D-6E8A-4147-A177-3AD203B41FA5}">
                      <a16:colId xmlns:a16="http://schemas.microsoft.com/office/drawing/2014/main" val="2551689135"/>
                    </a:ext>
                  </a:extLst>
                </a:gridCol>
              </a:tblGrid>
              <a:tr h="130922">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EPIC </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633035" rtl="0" eaLnBrk="1" latinLnBrk="0" hangingPunct="1">
                        <a:lnSpc>
                          <a:spcPct val="107000"/>
                        </a:lnSpc>
                        <a:spcAft>
                          <a:spcPts val="0"/>
                        </a:spcAft>
                      </a:pPr>
                      <a:r>
                        <a:rPr lang="en-US" sz="900" kern="1200">
                          <a:effectLst/>
                          <a:latin typeface="Calibri" panose="020F0502020204030204" pitchFamily="34" charset="0"/>
                          <a:ea typeface="Calibri" panose="020F0502020204030204" pitchFamily="34" charset="0"/>
                          <a:cs typeface="Calibri" panose="020F0502020204030204" pitchFamily="34" charset="0"/>
                        </a:rPr>
                        <a:t>Workspace</a:t>
                      </a:r>
                      <a:endParaRPr lang="en-IN"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30922">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User Story ID </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US - 1</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30922">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User Story Name</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633035" rtl="0" eaLnBrk="1" latinLnBrk="0" hangingPunct="1">
                        <a:lnSpc>
                          <a:spcPct val="107000"/>
                        </a:lnSpc>
                        <a:spcAft>
                          <a:spcPts val="0"/>
                        </a:spcAft>
                      </a:pPr>
                      <a:r>
                        <a:rPr lang="en-IN" sz="900" kern="1200" dirty="0">
                          <a:effectLst/>
                          <a:latin typeface="Calibri" panose="020F0502020204030204" pitchFamily="34" charset="0"/>
                          <a:ea typeface="Calibri" panose="020F0502020204030204" pitchFamily="34" charset="0"/>
                          <a:cs typeface="Calibri" panose="020F0502020204030204" pitchFamily="34" charset="0"/>
                        </a:rPr>
                        <a:t>Set up a workspace</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265736">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User Story </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633035" rtl="0" eaLnBrk="1" latinLnBrk="0" hangingPunct="1">
                        <a:lnSpc>
                          <a:spcPct val="107000"/>
                        </a:lnSpc>
                        <a:spcAft>
                          <a:spcPts val="0"/>
                        </a:spcAft>
                      </a:pPr>
                      <a:r>
                        <a:rPr lang="en-IN" sz="900" kern="1200" dirty="0">
                          <a:effectLst/>
                          <a:latin typeface="Calibri" panose="020F0502020204030204" pitchFamily="34" charset="0"/>
                          <a:ea typeface="Calibri" panose="020F0502020204030204" pitchFamily="34" charset="0"/>
                          <a:cs typeface="Calibri" panose="020F0502020204030204" pitchFamily="34" charset="0"/>
                        </a:rPr>
                        <a:t>As a data producer, I want to configure and define workspace location. So that I can organize my S-100 data assets, store temporary files, and ensure all operations (like creating/modifying exchange sets) occur within a designated and accessible directory.</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698589">
                <a:tc>
                  <a:txBody>
                    <a:bodyPr/>
                    <a:lstStyle/>
                    <a:p>
                      <a:pPr marL="0" algn="just" defTabSz="633035" rtl="0" eaLnBrk="1" latinLnBrk="0" hangingPunct="1">
                        <a:lnSpc>
                          <a:spcPct val="107000"/>
                        </a:lnSpc>
                        <a:spcAft>
                          <a:spcPts val="0"/>
                        </a:spcAft>
                      </a:pPr>
                      <a:r>
                        <a:rPr lang="en-US" sz="900" kern="1200" dirty="0">
                          <a:effectLst/>
                          <a:latin typeface="Calibri" panose="020F0502020204030204" pitchFamily="34" charset="0"/>
                          <a:ea typeface="Calibri" panose="020F0502020204030204" pitchFamily="34" charset="0"/>
                          <a:cs typeface="Calibri" panose="020F0502020204030204" pitchFamily="34" charset="0"/>
                        </a:rPr>
                        <a:t>Acceptance Criteria </a:t>
                      </a:r>
                      <a:endParaRPr lang="en-IN"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dirty="0">
                          <a:latin typeface="Calibri" panose="020F0502020204030204" pitchFamily="34" charset="0"/>
                          <a:ea typeface="Calibri" panose="020F0502020204030204" pitchFamily="34" charset="0"/>
                          <a:cs typeface="Calibri" panose="020F0502020204030204" pitchFamily="34" charset="0"/>
                        </a:rPr>
                        <a:t>Positive Scenario (Successful Workspace Configuration):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the data producer is launching the application for the first time, or is in the application's "Settings" or "Preferences" section.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browses to and selects a valid and accessible directory on the local file system (or network share, if supported) as the desired workspace location.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confirms the selection (e.g., by clicking "Save" or "Apply").</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application successfully sets and stores the chosen directory as the active workspace location.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application creates any necessary internal subdirectories within the chosen workspace (e.g., for temporary files, logs, exchange set storage) if they don't already exist.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that the workspace has been successfully configured.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subsequent application operations (e.g., creating a new exchange set) default to or are confined within this defined workspace.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configured workspace path is persisted across application restarts.</a:t>
                      </a:r>
                    </a:p>
                    <a:p>
                      <a:r>
                        <a:rPr lang="en-US" sz="9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900" b="1" dirty="0">
                          <a:latin typeface="Calibri" panose="020F0502020204030204" pitchFamily="34" charset="0"/>
                          <a:ea typeface="Calibri" panose="020F0502020204030204" pitchFamily="34" charset="0"/>
                          <a:cs typeface="Calibri" panose="020F0502020204030204" pitchFamily="34" charset="0"/>
                        </a:rPr>
                        <a:t>Scenario 1: No Workspace Selected (Initial Launch)</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the application is launched for the first time and no workspace has been configured.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proceed without selecting a workspace or closes the workspace configuration prompt without saving.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application prevents further critical operations (e.g., "Create New Exchange Set" is disabled), displays a prominent message instructing the user to define a workspace, and may redirect them to the settings.</a:t>
                      </a:r>
                    </a:p>
                    <a:p>
                      <a:r>
                        <a:rPr lang="en-US" sz="900" b="1" dirty="0">
                          <a:latin typeface="Calibri" panose="020F0502020204030204" pitchFamily="34" charset="0"/>
                          <a:ea typeface="Calibri" panose="020F0502020204030204" pitchFamily="34" charset="0"/>
                          <a:cs typeface="Calibri" panose="020F0502020204030204" pitchFamily="34" charset="0"/>
                        </a:rPr>
                        <a:t>Scenario 2: Invalid or Non-Existent Path Selected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the data producer is configuring the workspace.</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enters or selects a path that does not exist or is an invalid file system path (e.g., contains illegal characters, is a malformed URL).</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application prevents the selection, displays a specific error message (e.g., "Invalid Path," "Directory does not exist"), and does not set the workspace.</a:t>
                      </a:r>
                    </a:p>
                    <a:p>
                      <a:r>
                        <a:rPr lang="en-US" sz="900" b="1" dirty="0">
                          <a:latin typeface="Calibri" panose="020F0502020204030204" pitchFamily="34" charset="0"/>
                          <a:ea typeface="Calibri" panose="020F0502020204030204" pitchFamily="34" charset="0"/>
                          <a:cs typeface="Calibri" panose="020F0502020204030204" pitchFamily="34" charset="0"/>
                        </a:rPr>
                        <a:t>Scenario 3: Insufficient Write Permissions to Selected Path</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the data producer is configuring the workspace.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selects an existing directory where the application (or the user running it) does not have sufficient write permissions to create files or subdirectories.</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application prevents the selection, displays a specific error message (e.g., "Permission Denied: Cannot write to selected directory"), and does not set the workspace.</a:t>
                      </a:r>
                    </a:p>
                    <a:p>
                      <a:r>
                        <a:rPr lang="en-US" sz="900" b="1" dirty="0">
                          <a:latin typeface="Calibri" panose="020F0502020204030204" pitchFamily="34" charset="0"/>
                          <a:ea typeface="Calibri" panose="020F0502020204030204" pitchFamily="34" charset="0"/>
                          <a:cs typeface="Calibri" panose="020F0502020204030204" pitchFamily="34" charset="0"/>
                        </a:rPr>
                        <a:t>Scenario 4: Workspace Becomes Inaccessible After Configuration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workspace has been successfully configured and the application is restarted.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previously configured workspace path becomes inaccessible (e.g., network drive disconnected, external drive removed, directory deleted/renamed externally).</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upon launch or when an operation requiring the workspace is attempted, the application detects the inaccessibility, displays a prominent error message (e.g., "Workspace not found or inaccessible"), and prompts the user to reconfigure the workspace.</a:t>
                      </a:r>
                    </a:p>
                    <a:p>
                      <a:r>
                        <a:rPr lang="en-US" sz="900" b="1" dirty="0">
                          <a:latin typeface="Calibri" panose="020F0502020204030204" pitchFamily="34" charset="0"/>
                          <a:ea typeface="Calibri" panose="020F0502020204030204" pitchFamily="34" charset="0"/>
                          <a:cs typeface="Calibri" panose="020F0502020204030204" pitchFamily="34" charset="0"/>
                        </a:rPr>
                        <a:t>Scenario 5: Disk Space Issues (during sub-directory creation/initialization)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 valid directory as the workspace.</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there is insufficient disk space in the chosen location to create the necessary initial subdirectories or temporary files.</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application fails to configure the workspace, displays an error message indicating insufficient disk space, and does not set the workspace.</a:t>
                      </a:r>
                    </a:p>
                  </a:txBody>
                  <a:tcPr marL="51340" marR="513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3185090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129933097"/>
              </p:ext>
            </p:extLst>
          </p:nvPr>
        </p:nvGraphicFramePr>
        <p:xfrm>
          <a:off x="104775" y="1016286"/>
          <a:ext cx="8934449" cy="5510784"/>
        </p:xfrm>
        <a:graphic>
          <a:graphicData uri="http://schemas.openxmlformats.org/drawingml/2006/table">
            <a:tbl>
              <a:tblPr firstRow="1" firstCol="1" bandRow="1">
                <a:tableStyleId>{85BE263C-DBD7-4A20-BB59-AAB30ACAA65A}</a:tableStyleId>
              </a:tblPr>
              <a:tblGrid>
                <a:gridCol w="1114425">
                  <a:extLst>
                    <a:ext uri="{9D8B030D-6E8A-4147-A177-3AD203B41FA5}">
                      <a16:colId xmlns:a16="http://schemas.microsoft.com/office/drawing/2014/main" val="2269260783"/>
                    </a:ext>
                  </a:extLst>
                </a:gridCol>
                <a:gridCol w="7820024">
                  <a:extLst>
                    <a:ext uri="{9D8B030D-6E8A-4147-A177-3AD203B41FA5}">
                      <a16:colId xmlns:a16="http://schemas.microsoft.com/office/drawing/2014/main" val="2551689135"/>
                    </a:ext>
                  </a:extLst>
                </a:gridCol>
              </a:tblGrid>
              <a:tr h="153877">
                <a:tc>
                  <a:txBody>
                    <a:bodyPr/>
                    <a:lstStyle/>
                    <a:p>
                      <a:pPr>
                        <a:lnSpc>
                          <a:spcPct val="107000"/>
                        </a:lnSpc>
                        <a:spcAft>
                          <a:spcPts val="0"/>
                        </a:spcAft>
                      </a:pPr>
                      <a:r>
                        <a:rPr lang="en-US" sz="10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0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000" kern="100" dirty="0">
                          <a:effectLst/>
                          <a:latin typeface="Calibri" panose="020F0502020204030204" pitchFamily="34" charset="0"/>
                          <a:ea typeface="Calibri" panose="020F0502020204030204" pitchFamily="34" charset="0"/>
                          <a:cs typeface="Gautami" panose="020B0502040204020203" pitchFamily="34" charset="0"/>
                        </a:rPr>
                        <a:t>Resources</a:t>
                      </a:r>
                      <a:endParaRPr lang="en-IN" sz="10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53877">
                <a:tc>
                  <a:txBody>
                    <a:bodyPr/>
                    <a:lstStyle/>
                    <a:p>
                      <a:pPr>
                        <a:lnSpc>
                          <a:spcPct val="107000"/>
                        </a:lnSpc>
                        <a:spcAft>
                          <a:spcPts val="0"/>
                        </a:spcAft>
                      </a:pPr>
                      <a:r>
                        <a:rPr lang="en-US" sz="10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0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000" kern="100" dirty="0">
                          <a:effectLst/>
                          <a:latin typeface="Calibri" panose="020F0502020204030204" pitchFamily="34" charset="0"/>
                          <a:ea typeface="Calibri" panose="020F0502020204030204" pitchFamily="34" charset="0"/>
                          <a:cs typeface="Gautami" panose="020B0502040204020203" pitchFamily="34" charset="0"/>
                        </a:rPr>
                        <a:t>US - 2</a:t>
                      </a:r>
                      <a:endParaRPr lang="en-IN" sz="10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53877">
                <a:tc>
                  <a:txBody>
                    <a:bodyPr/>
                    <a:lstStyle/>
                    <a:p>
                      <a:pPr>
                        <a:lnSpc>
                          <a:spcPct val="107000"/>
                        </a:lnSpc>
                        <a:spcAft>
                          <a:spcPts val="0"/>
                        </a:spcAft>
                      </a:pPr>
                      <a:r>
                        <a:rPr lang="en-US" sz="10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0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000" kern="100" dirty="0">
                          <a:effectLst/>
                          <a:latin typeface="Calibri" panose="020F0502020204030204" pitchFamily="34" charset="0"/>
                          <a:ea typeface="Calibri" panose="020F0502020204030204" pitchFamily="34" charset="0"/>
                          <a:cs typeface="Gautami" panose="020B0502040204020203" pitchFamily="34" charset="0"/>
                        </a:rPr>
                        <a:t>Add resources to the workspace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307754">
                <a:tc>
                  <a:txBody>
                    <a:bodyPr/>
                    <a:lstStyle/>
                    <a:p>
                      <a:pPr>
                        <a:lnSpc>
                          <a:spcPct val="107000"/>
                        </a:lnSpc>
                        <a:spcAft>
                          <a:spcPts val="0"/>
                        </a:spcAft>
                      </a:pPr>
                      <a:r>
                        <a:rPr lang="en-US" sz="10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0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000" kern="100" dirty="0">
                          <a:effectLst/>
                          <a:latin typeface="Calibri" panose="020F0502020204030204" pitchFamily="34" charset="0"/>
                          <a:ea typeface="Calibri" panose="020F0502020204030204" pitchFamily="34" charset="0"/>
                          <a:cs typeface="Gautami" panose="020B0502040204020203" pitchFamily="34" charset="0"/>
                        </a:rPr>
                        <a:t>As a data producer, I want to securely add and manage supporting resources like signing keys, certificates, and encryption keys within my workspace, so that I can easily access and consistently apply them when creating, signing, encrypting, or modifying S-100 exchange sets and their content.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458112">
                <a:tc>
                  <a:txBody>
                    <a:bodyPr/>
                    <a:lstStyle/>
                    <a:p>
                      <a:pPr>
                        <a:lnSpc>
                          <a:spcPct val="107000"/>
                        </a:lnSpc>
                        <a:spcAft>
                          <a:spcPts val="0"/>
                        </a:spcAft>
                      </a:pPr>
                      <a:r>
                        <a:rPr lang="en-US" sz="10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0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a:latin typeface="Calibri" panose="020F0502020204030204" pitchFamily="34" charset="0"/>
                          <a:ea typeface="Calibri" panose="020F0502020204030204" pitchFamily="34" charset="0"/>
                          <a:cs typeface="Calibri" panose="020F0502020204030204" pitchFamily="34" charset="0"/>
                        </a:rPr>
                        <a:t>Positive Scenario (Success Path):</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is in the workspace settings or a dedicated "Resource Management" section,</a:t>
                      </a:r>
                    </a:p>
                    <a:p>
                      <a:pPr marL="171450"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the data producer selects to add a new resource (e.g., "Add Signing Key"), provides a valid file path or input for the key/certificate/encryption key, and confirms the addition,</a:t>
                      </a:r>
                    </a:p>
                    <a:p>
                      <a:pPr marL="171450"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application validates the resource's format and integrity, securely stores/registers it within the workspace environment, makes it available for relevant operations, </a:t>
                      </a:r>
                    </a:p>
                    <a:p>
                      <a:pPr marL="171450"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And provides a confirmation of successful addition.</a:t>
                      </a:r>
                    </a:p>
                    <a:p>
                      <a:r>
                        <a:rPr lang="en-US" sz="1000" b="1" dirty="0">
                          <a:latin typeface="Calibri" panose="020F0502020204030204" pitchFamily="34" charset="0"/>
                          <a:ea typeface="Calibri" panose="020F0502020204030204" pitchFamily="34" charset="0"/>
                          <a:cs typeface="Calibri" panose="020F0502020204030204" pitchFamily="34" charset="0"/>
                        </a:rPr>
                        <a:t>Negative Scenarios (Failure Paths / Edge Cases):</a:t>
                      </a:r>
                      <a:endParaRPr lang="en-US" sz="1000" dirty="0">
                        <a:latin typeface="Calibri" panose="020F0502020204030204" pitchFamily="34" charset="0"/>
                        <a:ea typeface="Calibri" panose="020F0502020204030204" pitchFamily="34" charset="0"/>
                        <a:cs typeface="Calibri" panose="020F0502020204030204" pitchFamily="34" charset="0"/>
                      </a:endParaRPr>
                    </a:p>
                    <a:p>
                      <a:r>
                        <a:rPr lang="en-US" sz="1000" b="1" dirty="0">
                          <a:latin typeface="Calibri" panose="020F0502020204030204" pitchFamily="34" charset="0"/>
                          <a:ea typeface="Calibri" panose="020F0502020204030204" pitchFamily="34" charset="0"/>
                          <a:cs typeface="Calibri" panose="020F0502020204030204" pitchFamily="34" charset="0"/>
                        </a:rPr>
                        <a:t>Scenario 1: Invalid File Format or Corrupted Resource</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attempts to add a resource,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the file provided is not in a recognized format for the specified resource type (e.g., a text file instead of a .</a:t>
                      </a:r>
                      <a:r>
                        <a:rPr lang="en-US" sz="1000" b="0" dirty="0" err="1">
                          <a:latin typeface="Calibri" panose="020F0502020204030204" pitchFamily="34" charset="0"/>
                          <a:ea typeface="Calibri" panose="020F0502020204030204" pitchFamily="34" charset="0"/>
                          <a:cs typeface="Calibri" panose="020F0502020204030204" pitchFamily="34" charset="0"/>
                        </a:rPr>
                        <a:t>pem</a:t>
                      </a:r>
                      <a:r>
                        <a:rPr lang="en-US" sz="1000" b="0" dirty="0">
                          <a:latin typeface="Calibri" panose="020F0502020204030204" pitchFamily="34" charset="0"/>
                          <a:ea typeface="Calibri" panose="020F0502020204030204" pitchFamily="34" charset="0"/>
                          <a:cs typeface="Calibri" panose="020F0502020204030204" pitchFamily="34" charset="0"/>
                        </a:rPr>
                        <a:t> certificate, or a corrupted key file),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an error message indicating an invalid format or corruption, and the resource is not stored.</a:t>
                      </a:r>
                    </a:p>
                    <a:p>
                      <a:r>
                        <a:rPr lang="en-US" sz="1000" b="1" dirty="0">
                          <a:latin typeface="Calibri" panose="020F0502020204030204" pitchFamily="34" charset="0"/>
                          <a:ea typeface="Calibri" panose="020F0502020204030204" pitchFamily="34" charset="0"/>
                          <a:cs typeface="Calibri" panose="020F0502020204030204" pitchFamily="34" charset="0"/>
                        </a:rPr>
                        <a:t>Scenario 2: Duplicate Resource</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attempts to add a resource,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the exact same key, certificate, or encryption key (identified by its unique properties) already exists within the workspace,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message indicating that the resource already exists, and the existing resource remains unchanged.</a:t>
                      </a:r>
                    </a:p>
                    <a:p>
                      <a:r>
                        <a:rPr lang="en-US" sz="1000" b="1" dirty="0">
                          <a:latin typeface="Calibri" panose="020F0502020204030204" pitchFamily="34" charset="0"/>
                          <a:ea typeface="Calibri" panose="020F0502020204030204" pitchFamily="34" charset="0"/>
                          <a:cs typeface="Calibri" panose="020F0502020204030204" pitchFamily="34" charset="0"/>
                        </a:rPr>
                        <a:t>Scenario 3: Expired or Revoked Certificate (for certificates)</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attempts to add a certificate,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the certificate is found to be expired or has been revoked during the validation process,</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warning or error message about the certificate's status, and the certificate is not stored.</a:t>
                      </a:r>
                    </a:p>
                    <a:p>
                      <a:r>
                        <a:rPr lang="en-US" sz="1000" b="1" dirty="0">
                          <a:latin typeface="Calibri" panose="020F0502020204030204" pitchFamily="34" charset="0"/>
                          <a:ea typeface="Calibri" panose="020F0502020204030204" pitchFamily="34" charset="0"/>
                          <a:cs typeface="Calibri" panose="020F0502020204030204" pitchFamily="34" charset="0"/>
                        </a:rPr>
                        <a:t>Scenario 4: Insufficient Permissions to Store Resource</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attempts to add a resource,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the application lacks the necessary file system permissions to securely store the resource within the workspace's designated storage area,</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permission-denied error message, and the resource is not stored.</a:t>
                      </a:r>
                    </a:p>
                    <a:p>
                      <a:r>
                        <a:rPr lang="en-US" sz="1000" b="1" dirty="0">
                          <a:latin typeface="Calibri" panose="020F0502020204030204" pitchFamily="34" charset="0"/>
                          <a:ea typeface="Calibri" panose="020F0502020204030204" pitchFamily="34" charset="0"/>
                          <a:cs typeface="Calibri" panose="020F0502020204030204" pitchFamily="34" charset="0"/>
                        </a:rPr>
                        <a:t>Scenario 5: System Error During Storage/Registration</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Given a data producer provides a valid resource,</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process of storing or registering the resource (e.g., database connection failure, disk write error),</a:t>
                      </a:r>
                    </a:p>
                    <a:p>
                      <a:pPr marL="176213" lvl="1" indent="-171450">
                        <a:buFont typeface="Arial" panose="020B0604020202020204" pitchFamily="34" charset="0"/>
                        <a:buChar char="•"/>
                      </a:pPr>
                      <a:r>
                        <a:rPr lang="en-US" sz="1000" b="0" dirty="0">
                          <a:latin typeface="Calibri" panose="020F0502020204030204" pitchFamily="34" charset="0"/>
                          <a:ea typeface="Calibri" panose="020F0502020204030204" pitchFamily="34" charset="0"/>
                          <a:cs typeface="Calibri" panose="020F0502020204030204" pitchFamily="34" charset="0"/>
                        </a:rPr>
                        <a:t>Then the resource is not added, an appropriate error message is displayed, and the system logs the error for investigation.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2604649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1690013973"/>
              </p:ext>
            </p:extLst>
          </p:nvPr>
        </p:nvGraphicFramePr>
        <p:xfrm>
          <a:off x="95539" y="1007052"/>
          <a:ext cx="8943975" cy="5310622"/>
        </p:xfrm>
        <a:graphic>
          <a:graphicData uri="http://schemas.openxmlformats.org/drawingml/2006/table">
            <a:tbl>
              <a:tblPr firstRow="1" firstCol="1" bandRow="1">
                <a:tableStyleId>{85BE263C-DBD7-4A20-BB59-AAB30ACAA65A}</a:tableStyleId>
              </a:tblPr>
              <a:tblGrid>
                <a:gridCol w="1049770">
                  <a:extLst>
                    <a:ext uri="{9D8B030D-6E8A-4147-A177-3AD203B41FA5}">
                      <a16:colId xmlns:a16="http://schemas.microsoft.com/office/drawing/2014/main" val="2269260783"/>
                    </a:ext>
                  </a:extLst>
                </a:gridCol>
                <a:gridCol w="7894205">
                  <a:extLst>
                    <a:ext uri="{9D8B030D-6E8A-4147-A177-3AD203B41FA5}">
                      <a16:colId xmlns:a16="http://schemas.microsoft.com/office/drawing/2014/main" val="2551689135"/>
                    </a:ext>
                  </a:extLst>
                </a:gridCol>
              </a:tblGrid>
              <a:tr h="172811">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EPIC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a:effectLst/>
                          <a:latin typeface="Calibri" panose="020F0502020204030204" pitchFamily="34" charset="0"/>
                          <a:ea typeface="Calibri" panose="020F0502020204030204" pitchFamily="34" charset="0"/>
                          <a:cs typeface="Gautami" panose="020B0502040204020203" pitchFamily="34" charset="0"/>
                        </a:rPr>
                        <a:t>Exchange set</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44336">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US - 3</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54683">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Add an exchange set to the workspace</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292904">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900" kern="100" dirty="0">
                          <a:effectLst/>
                          <a:latin typeface="Calibri" panose="020F0502020204030204" pitchFamily="34" charset="0"/>
                          <a:ea typeface="Calibri" panose="020F0502020204030204" pitchFamily="34" charset="0"/>
                          <a:cs typeface="Gautami" panose="020B0502040204020203" pitchFamily="34" charset="0"/>
                        </a:rPr>
                        <a:t>As a data producer, I want to generate an S-100 exchange set container, so that I can efficiently manage required content (datasets, supporting</a:t>
                      </a:r>
                      <a:r>
                        <a:rPr lang="en-IN" sz="900" kern="100" baseline="0" dirty="0">
                          <a:effectLst/>
                          <a:latin typeface="Calibri" panose="020F0502020204030204" pitchFamily="34" charset="0"/>
                          <a:ea typeface="Calibri" panose="020F0502020204030204" pitchFamily="34" charset="0"/>
                          <a:cs typeface="Gautami" panose="020B0502040204020203" pitchFamily="34" charset="0"/>
                        </a:rPr>
                        <a:t> files, catalogues</a:t>
                      </a:r>
                      <a:r>
                        <a:rPr lang="en-IN" sz="900" kern="100" dirty="0">
                          <a:effectLst/>
                          <a:latin typeface="Calibri" panose="020F0502020204030204" pitchFamily="34" charset="0"/>
                          <a:ea typeface="Calibri" panose="020F0502020204030204" pitchFamily="34" charset="0"/>
                          <a:cs typeface="Gautami" panose="020B0502040204020203" pitchFamily="34" charset="0"/>
                        </a:rPr>
                        <a:t>), package them, and securely share them with end-users in compliance with the S-100 standard.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545888">
                <a:tc>
                  <a:txBody>
                    <a:bodyPr/>
                    <a:lstStyle/>
                    <a:p>
                      <a:pPr>
                        <a:lnSpc>
                          <a:spcPct val="107000"/>
                        </a:lnSpc>
                        <a:spcAft>
                          <a:spcPts val="0"/>
                        </a:spcAft>
                      </a:pPr>
                      <a:r>
                        <a:rPr lang="en-US" sz="900" b="1" kern="100" dirty="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dirty="0">
                          <a:latin typeface="Calibri" panose="020F0502020204030204" pitchFamily="34" charset="0"/>
                          <a:ea typeface="Calibri" panose="020F0502020204030204" pitchFamily="34" charset="0"/>
                          <a:cs typeface="Calibri" panose="020F0502020204030204" pitchFamily="34" charset="0"/>
                        </a:rPr>
                        <a:t>Positive Scenario (Successful Creation):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is on the "Create New Exchange Set" form,</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 valid and unique name for the exchange set, provides a valid authentication key, and confirms the creation of an S-100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an empty S-100 exchange set container is successfully created with a valid folder structure in compliance with</a:t>
                      </a:r>
                      <a:r>
                        <a:rPr lang="en-US" sz="900" b="0" baseline="0" dirty="0">
                          <a:latin typeface="Calibri" panose="020F0502020204030204" pitchFamily="34" charset="0"/>
                          <a:ea typeface="Calibri" panose="020F0502020204030204" pitchFamily="34" charset="0"/>
                          <a:cs typeface="Calibri" panose="020F0502020204030204" pitchFamily="34" charset="0"/>
                        </a:rPr>
                        <a:t> the </a:t>
                      </a:r>
                      <a:r>
                        <a:rPr lang="en-US" sz="900" b="0" dirty="0">
                          <a:latin typeface="Calibri" panose="020F0502020204030204" pitchFamily="34" charset="0"/>
                          <a:ea typeface="Calibri" panose="020F0502020204030204" pitchFamily="34" charset="0"/>
                          <a:cs typeface="Calibri" panose="020F0502020204030204" pitchFamily="34" charset="0"/>
                        </a:rPr>
                        <a:t>standards in the designated workspace.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a CATALOG.XML file is generated in the S100_ROOT directory of the new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CATALOG.XML is automatically validated against its S-100 schema and is confirmed to be schema-compliant.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upon successful creation.</a:t>
                      </a:r>
                    </a:p>
                    <a:p>
                      <a:r>
                        <a:rPr lang="en-US" sz="9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900" b="1" dirty="0">
                          <a:latin typeface="Calibri" panose="020F0502020204030204" pitchFamily="34" charset="0"/>
                          <a:ea typeface="Calibri" panose="020F0502020204030204" pitchFamily="34" charset="0"/>
                          <a:cs typeface="Calibri" panose="020F0502020204030204" pitchFamily="34" charset="0"/>
                        </a:rPr>
                        <a:t>Scenario 1: Invalid Exchange Set Name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is on the "Create New Exchange Set" form,</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an invalid name (e.g., empty, containing disallowed characters, exceeding length limits) and attempts to create an S-100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creation, displays a specific and informative error message indicating the naming issue, and the form remains active for correction.</a:t>
                      </a:r>
                    </a:p>
                    <a:p>
                      <a:r>
                        <a:rPr lang="en-US" sz="900" b="1" dirty="0">
                          <a:latin typeface="Calibri" panose="020F0502020204030204" pitchFamily="34" charset="0"/>
                          <a:ea typeface="Calibri" panose="020F0502020204030204" pitchFamily="34" charset="0"/>
                          <a:cs typeface="Calibri" panose="020F0502020204030204" pitchFamily="34" charset="0"/>
                        </a:rPr>
                        <a:t>Scenario 2: Duplicate Exchange Set Name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an S-100 exchange set with a specific name already exists in the workspace, and a data producer is on the "Create New Exchange Set" form,</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create a new S-100 exchange set using that existing name,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creation, displays a clear error message stating that the name is already in use, and the form remains active.</a:t>
                      </a:r>
                    </a:p>
                    <a:p>
                      <a:r>
                        <a:rPr lang="en-US" sz="900" b="1" dirty="0">
                          <a:latin typeface="Calibri" panose="020F0502020204030204" pitchFamily="34" charset="0"/>
                          <a:ea typeface="Calibri" panose="020F0502020204030204" pitchFamily="34" charset="0"/>
                          <a:cs typeface="Calibri" panose="020F0502020204030204" pitchFamily="34" charset="0"/>
                        </a:rPr>
                        <a:t>Scenario 3: Invalid or Missing Authentication Key</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is on the "Create New Exchange Set" form,</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an invalid, expired, or incorrect authentication key (or no key if required) and attempts to create an S-100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creation, displays a specific error message related to the authentication key's validity or requirement, and the form remains active for correction.</a:t>
                      </a:r>
                    </a:p>
                    <a:p>
                      <a:r>
                        <a:rPr lang="en-US" sz="900" b="1" dirty="0">
                          <a:latin typeface="Calibri" panose="020F0502020204030204" pitchFamily="34" charset="0"/>
                          <a:ea typeface="Calibri" panose="020F0502020204030204" pitchFamily="34" charset="0"/>
                          <a:cs typeface="Calibri" panose="020F0502020204030204" pitchFamily="34" charset="0"/>
                        </a:rPr>
                        <a:t>Scenario 4: Workspace Issues (e.g., Permissions, Disk Space)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attempts to create an S-100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there are insufficient write permissions in the workspace directory, or insufficient disk space to create the new exchange set container and its files,</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creation, displays an appropriate error message (e.g., "Permission Denied," "Insufficient Disk Space"), and no exchange set is created.</a:t>
                      </a:r>
                    </a:p>
                    <a:p>
                      <a:r>
                        <a:rPr lang="en-US" sz="900" b="1" dirty="0">
                          <a:latin typeface="Calibri" panose="020F0502020204030204" pitchFamily="34" charset="0"/>
                          <a:ea typeface="Calibri" panose="020F0502020204030204" pitchFamily="34" charset="0"/>
                          <a:cs typeface="Calibri" panose="020F0502020204030204" pitchFamily="34" charset="0"/>
                        </a:rPr>
                        <a:t>Scenario 5: System Error During Creation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provides valid inputs for creating an S-100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creation of the folder structure or the CATALOG.XML file (e.g., file system error, internal service failure),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exchange set is not created (or any partially created files/folders are rolled back/cleaned up), an appropriate general error message is displayed to the data producer, and the system logs the detailed error for investigation.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3621305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2626665266"/>
              </p:ext>
            </p:extLst>
          </p:nvPr>
        </p:nvGraphicFramePr>
        <p:xfrm>
          <a:off x="114300" y="1056301"/>
          <a:ext cx="8943975" cy="5145455"/>
        </p:xfrm>
        <a:graphic>
          <a:graphicData uri="http://schemas.openxmlformats.org/drawingml/2006/table">
            <a:tbl>
              <a:tblPr firstRow="1" firstCol="1" bandRow="1">
                <a:tableStyleId>{85BE263C-DBD7-4A20-BB59-AAB30ACAA65A}</a:tableStyleId>
              </a:tblPr>
              <a:tblGrid>
                <a:gridCol w="1304925">
                  <a:extLst>
                    <a:ext uri="{9D8B030D-6E8A-4147-A177-3AD203B41FA5}">
                      <a16:colId xmlns:a16="http://schemas.microsoft.com/office/drawing/2014/main" val="2269260783"/>
                    </a:ext>
                  </a:extLst>
                </a:gridCol>
                <a:gridCol w="7639050">
                  <a:extLst>
                    <a:ext uri="{9D8B030D-6E8A-4147-A177-3AD203B41FA5}">
                      <a16:colId xmlns:a16="http://schemas.microsoft.com/office/drawing/2014/main" val="2551689135"/>
                    </a:ext>
                  </a:extLst>
                </a:gridCol>
              </a:tblGrid>
              <a:tr h="209081">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a:effectLst/>
                          <a:latin typeface="Calibri" panose="020F0502020204030204" pitchFamily="34" charset="0"/>
                          <a:ea typeface="Calibri" panose="020F0502020204030204" pitchFamily="34" charset="0"/>
                          <a:cs typeface="Gautami" panose="020B0502040204020203" pitchFamily="34" charset="0"/>
                        </a:rPr>
                        <a:t>Content</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277091">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US - 4</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314036">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Add</a:t>
                      </a:r>
                      <a:r>
                        <a:rPr lang="en-US" sz="1100" kern="100" baseline="0" dirty="0">
                          <a:effectLst/>
                          <a:latin typeface="Calibri" panose="020F0502020204030204" pitchFamily="34" charset="0"/>
                          <a:ea typeface="Calibri" panose="020F0502020204030204" pitchFamily="34" charset="0"/>
                          <a:cs typeface="Gautami" panose="020B0502040204020203" pitchFamily="34" charset="0"/>
                        </a:rPr>
                        <a:t> or </a:t>
                      </a:r>
                      <a:r>
                        <a:rPr lang="en-US" sz="1100" kern="100" dirty="0">
                          <a:effectLst/>
                          <a:latin typeface="Calibri" panose="020F0502020204030204" pitchFamily="34" charset="0"/>
                          <a:ea typeface="Calibri" panose="020F0502020204030204" pitchFamily="34" charset="0"/>
                          <a:cs typeface="Gautami" panose="020B0502040204020203" pitchFamily="34" charset="0"/>
                        </a:rPr>
                        <a:t>Remove dataset(s) to the exchange set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489527">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As a data producer, I want to add dataset like ENC,</a:t>
                      </a:r>
                      <a:r>
                        <a:rPr lang="en-IN" sz="1100" kern="100" baseline="0" dirty="0">
                          <a:effectLst/>
                          <a:latin typeface="Calibri" panose="020F0502020204030204" pitchFamily="34" charset="0"/>
                          <a:ea typeface="Calibri" panose="020F0502020204030204" pitchFamily="34" charset="0"/>
                          <a:cs typeface="Gautami" panose="020B0502040204020203" pitchFamily="34" charset="0"/>
                        </a:rPr>
                        <a:t> HDF5 etc. </a:t>
                      </a:r>
                      <a:r>
                        <a:rPr lang="en-IN" sz="1100" kern="100" dirty="0">
                          <a:effectLst/>
                          <a:latin typeface="Calibri" panose="020F0502020204030204" pitchFamily="34" charset="0"/>
                          <a:ea typeface="Calibri" panose="020F0502020204030204" pitchFamily="34" charset="0"/>
                          <a:cs typeface="Gautami" panose="020B0502040204020203" pitchFamily="34" charset="0"/>
                        </a:rPr>
                        <a:t>to an existing S-100 exchange set, so that I can assemble a complete data package for distribution and ensure the exchange set's manifest is up-to-date.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3295415">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b="1" dirty="0">
                          <a:latin typeface="Calibri" panose="020F0502020204030204" pitchFamily="34" charset="0"/>
                          <a:ea typeface="Calibri" panose="020F0502020204030204" pitchFamily="34" charset="0"/>
                          <a:cs typeface="Calibri" panose="020F0502020204030204" pitchFamily="34" charset="0"/>
                        </a:rPr>
                        <a:t>Positive Scenario (Success Path):</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editable S-100 exchange set and has browsed available</a:t>
                      </a:r>
                      <a:r>
                        <a:rPr lang="en-US" sz="1100" b="0" baseline="0" dirty="0">
                          <a:latin typeface="Calibri" panose="020F0502020204030204" pitchFamily="34" charset="0"/>
                          <a:ea typeface="Calibri" panose="020F0502020204030204" pitchFamily="34" charset="0"/>
                          <a:cs typeface="Calibri" panose="020F0502020204030204" pitchFamily="34" charset="0"/>
                        </a:rPr>
                        <a:t> datasets</a:t>
                      </a:r>
                      <a:r>
                        <a:rPr lang="en-US" sz="1100" b="0" dirty="0">
                          <a:latin typeface="Calibri" panose="020F0502020204030204" pitchFamily="34" charset="0"/>
                          <a:ea typeface="Calibri" panose="020F0502020204030204" pitchFamily="34" charset="0"/>
                          <a:cs typeface="Calibri" panose="020F0502020204030204" pitchFamily="34" charset="0"/>
                        </a:rPr>
                        <a: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selects one or more valid datasets and chooses the "Add" or “Remove” option,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selected datasets are successfully added to the designated folders</a:t>
                      </a:r>
                      <a:r>
                        <a:rPr lang="en-US" sz="1100" b="0" baseline="0" dirty="0">
                          <a:latin typeface="Calibri" panose="020F0502020204030204" pitchFamily="34" charset="0"/>
                          <a:ea typeface="Calibri" panose="020F0502020204030204" pitchFamily="34" charset="0"/>
                          <a:cs typeface="Calibri" panose="020F0502020204030204" pitchFamily="34" charset="0"/>
                        </a:rPr>
                        <a:t> in the </a:t>
                      </a:r>
                      <a:r>
                        <a:rPr lang="en-US" sz="1100" b="0" dirty="0">
                          <a:latin typeface="Calibri" panose="020F0502020204030204" pitchFamily="34" charset="0"/>
                          <a:ea typeface="Calibri" panose="020F0502020204030204" pitchFamily="34" charset="0"/>
                          <a:cs typeface="Calibri" panose="020F0502020204030204" pitchFamily="34" charset="0"/>
                        </a:rPr>
                        <a:t>exchange set container,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CATALOG.XML file is automatically updated to reflect the newly added datasets,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producer receives a confirmation of success.</a:t>
                      </a:r>
                    </a:p>
                    <a:p>
                      <a:r>
                        <a:rPr lang="en-US" sz="1100" b="1" dirty="0">
                          <a:latin typeface="Calibri" panose="020F0502020204030204" pitchFamily="34" charset="0"/>
                          <a:ea typeface="Calibri" panose="020F0502020204030204" pitchFamily="34" charset="0"/>
                          <a:cs typeface="Calibri" panose="020F0502020204030204" pitchFamily="34" charset="0"/>
                        </a:rPr>
                        <a:t>Negative Scenarios (Failure Paths / Edge Cases):</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Scenario 1: Adding Duplicate datasets</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exchange set that already contains a specific dataset,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attempts to add</a:t>
                      </a:r>
                      <a:r>
                        <a:rPr lang="en-US" sz="1100" b="0" baseline="0" dirty="0">
                          <a:latin typeface="Calibri" panose="020F0502020204030204" pitchFamily="34" charset="0"/>
                          <a:ea typeface="Calibri" panose="020F0502020204030204" pitchFamily="34" charset="0"/>
                          <a:cs typeface="Calibri" panose="020F0502020204030204" pitchFamily="34" charset="0"/>
                        </a:rPr>
                        <a:t> </a:t>
                      </a:r>
                      <a:r>
                        <a:rPr lang="en-US" sz="1100" b="0" dirty="0">
                          <a:latin typeface="Calibri" panose="020F0502020204030204" pitchFamily="34" charset="0"/>
                          <a:ea typeface="Calibri" panose="020F0502020204030204" pitchFamily="34" charset="0"/>
                          <a:cs typeface="Calibri" panose="020F0502020204030204" pitchFamily="34" charset="0"/>
                        </a:rPr>
                        <a:t>the exact same dataset (duplicate) to the exchange set again,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message indicating that the dataset is already exists in the exchange set, and the CATALOG.XML is not modified.</a:t>
                      </a:r>
                    </a:p>
                    <a:p>
                      <a:r>
                        <a:rPr lang="en-US" sz="1100" b="1" dirty="0">
                          <a:latin typeface="Calibri" panose="020F0502020204030204" pitchFamily="34" charset="0"/>
                          <a:ea typeface="Calibri" panose="020F0502020204030204" pitchFamily="34" charset="0"/>
                          <a:cs typeface="Calibri" panose="020F0502020204030204" pitchFamily="34" charset="0"/>
                        </a:rPr>
                        <a:t>Scenario 2: Exchange Set is Not Editable/Locked</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attempts to add dataset to an exchange set that is locked, read-only, or in a finalized state (e.g., already packaged for distribution),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tries to select and add dataset,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an error message is displayed indicating that the exchange set cannot be modified in its current state.</a:t>
                      </a:r>
                    </a:p>
                    <a:p>
                      <a:r>
                        <a:rPr lang="en-US" sz="1100" b="1" dirty="0">
                          <a:latin typeface="Calibri" panose="020F0502020204030204" pitchFamily="34" charset="0"/>
                          <a:ea typeface="Calibri" panose="020F0502020204030204" pitchFamily="34" charset="0"/>
                          <a:cs typeface="Calibri" panose="020F0502020204030204" pitchFamily="34" charset="0"/>
                        </a:rPr>
                        <a:t>Scenario 3: System Error During Addition/Catalog Update</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valid dataset to add,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process of adding dataset or updating the CATALOG.XML (e.g., file write error, database issue),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datasets are not added, the CATALOG.XML remains in its previous valid state (or is rolled back), an appropriate error message is displayed, and the system logs the error.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1959801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4292006292"/>
              </p:ext>
            </p:extLst>
          </p:nvPr>
        </p:nvGraphicFramePr>
        <p:xfrm>
          <a:off x="114300" y="1056304"/>
          <a:ext cx="8943975" cy="5245333"/>
        </p:xfrm>
        <a:graphic>
          <a:graphicData uri="http://schemas.openxmlformats.org/drawingml/2006/table">
            <a:tbl>
              <a:tblPr firstRow="1" firstCol="1" bandRow="1">
                <a:tableStyleId>{85BE263C-DBD7-4A20-BB59-AAB30ACAA65A}</a:tableStyleId>
              </a:tblPr>
              <a:tblGrid>
                <a:gridCol w="1304925">
                  <a:extLst>
                    <a:ext uri="{9D8B030D-6E8A-4147-A177-3AD203B41FA5}">
                      <a16:colId xmlns:a16="http://schemas.microsoft.com/office/drawing/2014/main" val="2269260783"/>
                    </a:ext>
                  </a:extLst>
                </a:gridCol>
                <a:gridCol w="7639050">
                  <a:extLst>
                    <a:ext uri="{9D8B030D-6E8A-4147-A177-3AD203B41FA5}">
                      <a16:colId xmlns:a16="http://schemas.microsoft.com/office/drawing/2014/main" val="2551689135"/>
                    </a:ext>
                  </a:extLst>
                </a:gridCol>
              </a:tblGrid>
              <a:tr h="270033">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a:effectLst/>
                          <a:latin typeface="Calibri" panose="020F0502020204030204" pitchFamily="34" charset="0"/>
                          <a:ea typeface="Calibri" panose="020F0502020204030204" pitchFamily="34" charset="0"/>
                          <a:cs typeface="Gautami" panose="020B0502040204020203" pitchFamily="34" charset="0"/>
                        </a:rPr>
                        <a:t>Content</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256063">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US - 5</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341418">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Add or Remove supporting</a:t>
                      </a:r>
                      <a:r>
                        <a:rPr lang="en-US" sz="1100" kern="100" baseline="0" dirty="0">
                          <a:effectLst/>
                          <a:latin typeface="Calibri" panose="020F0502020204030204" pitchFamily="34" charset="0"/>
                          <a:ea typeface="Calibri" panose="020F0502020204030204" pitchFamily="34" charset="0"/>
                          <a:cs typeface="Gautami" panose="020B0502040204020203" pitchFamily="34" charset="0"/>
                        </a:rPr>
                        <a:t> files</a:t>
                      </a:r>
                      <a:r>
                        <a:rPr lang="en-US" sz="1100" kern="100" dirty="0">
                          <a:effectLst/>
                          <a:latin typeface="Calibri" panose="020F0502020204030204" pitchFamily="34" charset="0"/>
                          <a:ea typeface="Calibri" panose="020F0502020204030204" pitchFamily="34" charset="0"/>
                          <a:cs typeface="Gautami" panose="020B0502040204020203" pitchFamily="34" charset="0"/>
                        </a:rPr>
                        <a:t> to the exchange set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522099">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As a data producer, I want to add supporting files like TXT, PDFs</a:t>
                      </a:r>
                      <a:r>
                        <a:rPr lang="en-IN" sz="1100" kern="100" baseline="0" dirty="0">
                          <a:effectLst/>
                          <a:latin typeface="Calibri" panose="020F0502020204030204" pitchFamily="34" charset="0"/>
                          <a:ea typeface="Calibri" panose="020F0502020204030204" pitchFamily="34" charset="0"/>
                          <a:cs typeface="Gautami" panose="020B0502040204020203" pitchFamily="34" charset="0"/>
                        </a:rPr>
                        <a:t> etc. </a:t>
                      </a:r>
                      <a:r>
                        <a:rPr lang="en-IN" sz="1100" kern="100" dirty="0">
                          <a:effectLst/>
                          <a:latin typeface="Calibri" panose="020F0502020204030204" pitchFamily="34" charset="0"/>
                          <a:ea typeface="Calibri" panose="020F0502020204030204" pitchFamily="34" charset="0"/>
                          <a:cs typeface="Gautami" panose="020B0502040204020203" pitchFamily="34" charset="0"/>
                        </a:rPr>
                        <a:t>to an existing S-100 exchange set, so that I can assemble a complete data package for distribution and ensure the exchange set's manifest is up-to-date.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3723976">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b="1" dirty="0">
                          <a:latin typeface="Calibri" panose="020F0502020204030204" pitchFamily="34" charset="0"/>
                          <a:ea typeface="Calibri" panose="020F0502020204030204" pitchFamily="34" charset="0"/>
                          <a:cs typeface="Calibri" panose="020F0502020204030204" pitchFamily="34" charset="0"/>
                        </a:rPr>
                        <a:t>Positive Scenario (Success Path):</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editable S-100 exchange set and has browsed available</a:t>
                      </a:r>
                      <a:r>
                        <a:rPr lang="en-US" sz="1100" b="0" baseline="0" dirty="0">
                          <a:latin typeface="Calibri" panose="020F0502020204030204" pitchFamily="34" charset="0"/>
                          <a:ea typeface="Calibri" panose="020F0502020204030204" pitchFamily="34" charset="0"/>
                          <a:cs typeface="Calibri" panose="020F0502020204030204" pitchFamily="34" charset="0"/>
                        </a:rPr>
                        <a:t> supporting files</a:t>
                      </a:r>
                      <a:r>
                        <a:rPr lang="en-US" sz="1100" b="0" dirty="0">
                          <a:latin typeface="Calibri" panose="020F0502020204030204" pitchFamily="34" charset="0"/>
                          <a:ea typeface="Calibri" panose="020F0502020204030204" pitchFamily="34" charset="0"/>
                          <a:cs typeface="Calibri" panose="020F0502020204030204" pitchFamily="34" charset="0"/>
                        </a:rPr>
                        <a: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selects one or more valid supporting files and chooses the "Add" or “Remove” option,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selected supporting file are successfully added to the exchange set container,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CATALOG.XML file is automatically updated to reflect the newly added products,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producer receives a confirmation of success.</a:t>
                      </a:r>
                    </a:p>
                    <a:p>
                      <a:r>
                        <a:rPr lang="en-US" sz="1100" b="1" dirty="0">
                          <a:latin typeface="Calibri" panose="020F0502020204030204" pitchFamily="34" charset="0"/>
                          <a:ea typeface="Calibri" panose="020F0502020204030204" pitchFamily="34" charset="0"/>
                          <a:cs typeface="Calibri" panose="020F0502020204030204" pitchFamily="34" charset="0"/>
                        </a:rPr>
                        <a:t>Negative Scenarios (Failure Paths / Edge Cases):</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Scenario 1: Adding Duplicate Supporting files</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exchange set that already contains a specific supporting file,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attempts to add the exact same supporting file (duplicate) to the exchange set again,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message indicating that the supporting file is already exists in the exchange set, and the CATALOG.XML is not modified.</a:t>
                      </a:r>
                    </a:p>
                    <a:p>
                      <a:r>
                        <a:rPr lang="en-US" sz="1100" b="1" dirty="0">
                          <a:latin typeface="Calibri" panose="020F0502020204030204" pitchFamily="34" charset="0"/>
                          <a:ea typeface="Calibri" panose="020F0502020204030204" pitchFamily="34" charset="0"/>
                          <a:cs typeface="Calibri" panose="020F0502020204030204" pitchFamily="34" charset="0"/>
                        </a:rPr>
                        <a:t>Scenario 2: Exchange Set is Not Editable/Locked</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attempts to add supporting file to an exchange set that is locked, read-only, or in a finalized state (e.g., already packaged for distribution),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tries to select and add supporting file,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an error message is displayed indicating that the exchange set cannot be modified in its current state.</a:t>
                      </a:r>
                    </a:p>
                    <a:p>
                      <a:r>
                        <a:rPr lang="en-US" sz="1100" b="1" dirty="0">
                          <a:latin typeface="Calibri" panose="020F0502020204030204" pitchFamily="34" charset="0"/>
                          <a:ea typeface="Calibri" panose="020F0502020204030204" pitchFamily="34" charset="0"/>
                          <a:cs typeface="Calibri" panose="020F0502020204030204" pitchFamily="34" charset="0"/>
                        </a:rPr>
                        <a:t>Scenario 3: System Error During Addition/Catalog Update</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valid supporting file to add,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process of adding supporting file or updating the CATALOG.XML (e.g., file write error, database issue),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supporting files are not added, the CATALOG.XML remains in its previous valid state (or is rolled back), an appropriate error message is displayed, and the system logs the error.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66742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14300" y="106079"/>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4152519940"/>
              </p:ext>
            </p:extLst>
          </p:nvPr>
        </p:nvGraphicFramePr>
        <p:xfrm>
          <a:off x="100012" y="618153"/>
          <a:ext cx="8943975" cy="5200331"/>
        </p:xfrm>
        <a:graphic>
          <a:graphicData uri="http://schemas.openxmlformats.org/drawingml/2006/table">
            <a:tbl>
              <a:tblPr firstRow="1" firstCol="1" bandRow="1">
                <a:tableStyleId>{85BE263C-DBD7-4A20-BB59-AAB30ACAA65A}</a:tableStyleId>
              </a:tblPr>
              <a:tblGrid>
                <a:gridCol w="1304925">
                  <a:extLst>
                    <a:ext uri="{9D8B030D-6E8A-4147-A177-3AD203B41FA5}">
                      <a16:colId xmlns:a16="http://schemas.microsoft.com/office/drawing/2014/main" val="2269260783"/>
                    </a:ext>
                  </a:extLst>
                </a:gridCol>
                <a:gridCol w="7639050">
                  <a:extLst>
                    <a:ext uri="{9D8B030D-6E8A-4147-A177-3AD203B41FA5}">
                      <a16:colId xmlns:a16="http://schemas.microsoft.com/office/drawing/2014/main" val="2551689135"/>
                    </a:ext>
                  </a:extLst>
                </a:gridCol>
              </a:tblGrid>
              <a:tr h="301353">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Content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286690">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US - 6</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321686">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Add or Remove catalogues to the exchange set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434882">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As a data producer, I want to add product catalogues</a:t>
                      </a:r>
                      <a:r>
                        <a:rPr lang="en-IN" sz="1100" kern="100" baseline="0" dirty="0">
                          <a:effectLst/>
                          <a:latin typeface="Calibri" panose="020F0502020204030204" pitchFamily="34" charset="0"/>
                          <a:ea typeface="Calibri" panose="020F0502020204030204" pitchFamily="34" charset="0"/>
                          <a:cs typeface="Gautami" panose="020B0502040204020203" pitchFamily="34" charset="0"/>
                        </a:rPr>
                        <a:t> </a:t>
                      </a:r>
                      <a:r>
                        <a:rPr lang="en-IN" sz="1100" kern="100" dirty="0">
                          <a:effectLst/>
                          <a:latin typeface="Calibri" panose="020F0502020204030204" pitchFamily="34" charset="0"/>
                          <a:ea typeface="Calibri" panose="020F0502020204030204" pitchFamily="34" charset="0"/>
                          <a:cs typeface="Gautami" panose="020B0502040204020203" pitchFamily="34" charset="0"/>
                        </a:rPr>
                        <a:t>to an existing S-100 exchange set, so that I can assemble a complete data package for distribution and ensure the exchange set's manifest is up-to-date.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3658141">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b="1" dirty="0">
                          <a:latin typeface="Calibri" panose="020F0502020204030204" pitchFamily="34" charset="0"/>
                          <a:ea typeface="Calibri" panose="020F0502020204030204" pitchFamily="34" charset="0"/>
                          <a:cs typeface="Calibri" panose="020F0502020204030204" pitchFamily="34" charset="0"/>
                        </a:rPr>
                        <a:t>Positive Scenario (Success Path):</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editable S-100 exchange set and has browsed available product </a:t>
                      </a:r>
                      <a:r>
                        <a:rPr lang="en-IN" sz="1100" b="0" kern="100" dirty="0">
                          <a:effectLst/>
                          <a:latin typeface="Calibri" panose="020F0502020204030204" pitchFamily="34" charset="0"/>
                          <a:ea typeface="Calibri" panose="020F0502020204030204" pitchFamily="34" charset="0"/>
                          <a:cs typeface="Gautami" panose="020B0502040204020203" pitchFamily="34" charset="0"/>
                        </a:rPr>
                        <a:t>catalogues</a:t>
                      </a:r>
                      <a:r>
                        <a:rPr lang="en-US" sz="1100" b="0" dirty="0">
                          <a:latin typeface="Calibri" panose="020F0502020204030204" pitchFamily="34" charset="0"/>
                          <a:ea typeface="Calibri" panose="020F0502020204030204" pitchFamily="34" charset="0"/>
                          <a:cs typeface="Calibri" panose="020F0502020204030204" pitchFamily="34" charset="0"/>
                        </a:rPr>
                        <a: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selects one or more valid products and chooses the "Add" or “Remove” option,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selected product catalogues are successfully added to the exchange set container,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CATALOG.XML file is automatically updated to reflect the newly added products, </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producer receives a confirmation of success.</a:t>
                      </a:r>
                    </a:p>
                    <a:p>
                      <a:r>
                        <a:rPr lang="en-US" sz="1100" b="1" dirty="0">
                          <a:latin typeface="Calibri" panose="020F0502020204030204" pitchFamily="34" charset="0"/>
                          <a:ea typeface="Calibri" panose="020F0502020204030204" pitchFamily="34" charset="0"/>
                          <a:cs typeface="Calibri" panose="020F0502020204030204" pitchFamily="34" charset="0"/>
                        </a:rPr>
                        <a:t>Negative Scenarios (Failure Paths / Edge Cases):</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Scenario 1: Adding Duplicate Product Catalogue</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has opened an exchange set that already contains a specific product catalogue,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attempts to add the exact same product catalogue (duplicate) to the exchange set again,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the addition, displays a message indicating that the product catalogue is already exists in the exchange set, and the CATALOG.XML is not modified.</a:t>
                      </a:r>
                    </a:p>
                    <a:p>
                      <a:r>
                        <a:rPr lang="en-US" sz="1100" b="1" dirty="0">
                          <a:latin typeface="Calibri" panose="020F0502020204030204" pitchFamily="34" charset="0"/>
                          <a:ea typeface="Calibri" panose="020F0502020204030204" pitchFamily="34" charset="0"/>
                          <a:cs typeface="Calibri" panose="020F0502020204030204" pitchFamily="34" charset="0"/>
                        </a:rPr>
                        <a:t>Scenario 2: Exchange Set is Not Editable/Locked</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attempts to add product</a:t>
                      </a:r>
                      <a:r>
                        <a:rPr lang="en-US" sz="1100" b="0" baseline="0" dirty="0">
                          <a:latin typeface="Calibri" panose="020F0502020204030204" pitchFamily="34" charset="0"/>
                          <a:ea typeface="Calibri" panose="020F0502020204030204" pitchFamily="34" charset="0"/>
                          <a:cs typeface="Calibri" panose="020F0502020204030204" pitchFamily="34" charset="0"/>
                        </a:rPr>
                        <a:t> catalogue</a:t>
                      </a:r>
                      <a:r>
                        <a:rPr lang="en-US" sz="1100" b="0" dirty="0">
                          <a:latin typeface="Calibri" panose="020F0502020204030204" pitchFamily="34" charset="0"/>
                          <a:ea typeface="Calibri" panose="020F0502020204030204" pitchFamily="34" charset="0"/>
                          <a:cs typeface="Calibri" panose="020F0502020204030204" pitchFamily="34" charset="0"/>
                        </a:rPr>
                        <a:t> to an exchange set that is locked, read-only, or in a finalized state (e.g., already packaged for distribution),</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tries to select and add product</a:t>
                      </a:r>
                      <a:r>
                        <a:rPr lang="en-US" sz="1100" b="0" baseline="0" dirty="0">
                          <a:latin typeface="Calibri" panose="020F0502020204030204" pitchFamily="34" charset="0"/>
                          <a:ea typeface="Calibri" panose="020F0502020204030204" pitchFamily="34" charset="0"/>
                          <a:cs typeface="Calibri" panose="020F0502020204030204" pitchFamily="34" charset="0"/>
                        </a:rPr>
                        <a:t> catalogue</a:t>
                      </a:r>
                      <a:r>
                        <a:rPr lang="en-US" sz="1100" b="0" dirty="0">
                          <a:latin typeface="Calibri" panose="020F0502020204030204" pitchFamily="34" charset="0"/>
                          <a:ea typeface="Calibri" panose="020F0502020204030204" pitchFamily="34" charset="0"/>
                          <a:cs typeface="Calibri" panose="020F0502020204030204" pitchFamily="34" charset="0"/>
                        </a:rPr>
                        <a: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an error message is displayed indicating that the exchange set cannot be modified in its current state.</a:t>
                      </a:r>
                    </a:p>
                    <a:p>
                      <a:r>
                        <a:rPr lang="en-US" sz="1100" b="1" dirty="0">
                          <a:latin typeface="Calibri" panose="020F0502020204030204" pitchFamily="34" charset="0"/>
                          <a:ea typeface="Calibri" panose="020F0502020204030204" pitchFamily="34" charset="0"/>
                          <a:cs typeface="Calibri" panose="020F0502020204030204" pitchFamily="34" charset="0"/>
                        </a:rPr>
                        <a:t>Scenario 3: System Error During Addition/Catalog Update</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valid product</a:t>
                      </a:r>
                      <a:r>
                        <a:rPr lang="en-US" sz="1100" b="0" baseline="0" dirty="0">
                          <a:latin typeface="Calibri" panose="020F0502020204030204" pitchFamily="34" charset="0"/>
                          <a:ea typeface="Calibri" panose="020F0502020204030204" pitchFamily="34" charset="0"/>
                          <a:cs typeface="Calibri" panose="020F0502020204030204" pitchFamily="34" charset="0"/>
                        </a:rPr>
                        <a:t> catalogue</a:t>
                      </a:r>
                      <a:r>
                        <a:rPr lang="en-US" sz="1100" b="0" dirty="0">
                          <a:latin typeface="Calibri" panose="020F0502020204030204" pitchFamily="34" charset="0"/>
                          <a:ea typeface="Calibri" panose="020F0502020204030204" pitchFamily="34" charset="0"/>
                          <a:cs typeface="Calibri" panose="020F0502020204030204" pitchFamily="34" charset="0"/>
                        </a:rPr>
                        <a:t> to add,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process of adding product</a:t>
                      </a:r>
                      <a:r>
                        <a:rPr lang="en-US" sz="1100" b="0" baseline="0" dirty="0">
                          <a:latin typeface="Calibri" panose="020F0502020204030204" pitchFamily="34" charset="0"/>
                          <a:ea typeface="Calibri" panose="020F0502020204030204" pitchFamily="34" charset="0"/>
                          <a:cs typeface="Calibri" panose="020F0502020204030204" pitchFamily="34" charset="0"/>
                        </a:rPr>
                        <a:t> catalogue</a:t>
                      </a:r>
                      <a:r>
                        <a:rPr lang="en-US" sz="1100" b="0" dirty="0">
                          <a:latin typeface="Calibri" panose="020F0502020204030204" pitchFamily="34" charset="0"/>
                          <a:ea typeface="Calibri" panose="020F0502020204030204" pitchFamily="34" charset="0"/>
                          <a:cs typeface="Calibri" panose="020F0502020204030204" pitchFamily="34" charset="0"/>
                        </a:rPr>
                        <a:t> or updating the CATALOG.XML (e.g., file write error, database issue),</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product</a:t>
                      </a:r>
                      <a:r>
                        <a:rPr lang="en-US" sz="1100" b="0" baseline="0" dirty="0">
                          <a:latin typeface="Calibri" panose="020F0502020204030204" pitchFamily="34" charset="0"/>
                          <a:ea typeface="Calibri" panose="020F0502020204030204" pitchFamily="34" charset="0"/>
                          <a:cs typeface="Calibri" panose="020F0502020204030204" pitchFamily="34" charset="0"/>
                        </a:rPr>
                        <a:t> catalogues</a:t>
                      </a:r>
                      <a:r>
                        <a:rPr lang="en-US" sz="1100" b="0" dirty="0">
                          <a:latin typeface="Calibri" panose="020F0502020204030204" pitchFamily="34" charset="0"/>
                          <a:ea typeface="Calibri" panose="020F0502020204030204" pitchFamily="34" charset="0"/>
                          <a:cs typeface="Calibri" panose="020F0502020204030204" pitchFamily="34" charset="0"/>
                        </a:rPr>
                        <a:t> are not added, the CATALOG.XML remains in its previous valid state (or is rolled back), an appropriate error message is displayed, and the system logs the error.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1843981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263274043"/>
              </p:ext>
            </p:extLst>
          </p:nvPr>
        </p:nvGraphicFramePr>
        <p:xfrm>
          <a:off x="0" y="0"/>
          <a:ext cx="9144000" cy="6654812"/>
        </p:xfrm>
        <a:graphic>
          <a:graphicData uri="http://schemas.openxmlformats.org/drawingml/2006/table">
            <a:tbl>
              <a:tblPr firstRow="1" firstCol="1" bandRow="1">
                <a:tableStyleId>{85BE263C-DBD7-4A20-BB59-AAB30ACAA65A}</a:tableStyleId>
              </a:tblPr>
              <a:tblGrid>
                <a:gridCol w="1003096">
                  <a:extLst>
                    <a:ext uri="{9D8B030D-6E8A-4147-A177-3AD203B41FA5}">
                      <a16:colId xmlns:a16="http://schemas.microsoft.com/office/drawing/2014/main" val="2269260783"/>
                    </a:ext>
                  </a:extLst>
                </a:gridCol>
                <a:gridCol w="8140904">
                  <a:extLst>
                    <a:ext uri="{9D8B030D-6E8A-4147-A177-3AD203B41FA5}">
                      <a16:colId xmlns:a16="http://schemas.microsoft.com/office/drawing/2014/main" val="2551689135"/>
                    </a:ext>
                  </a:extLst>
                </a:gridCol>
              </a:tblGrid>
              <a:tr h="0">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EPIC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a:effectLst/>
                          <a:latin typeface="Calibri" panose="020F0502020204030204" pitchFamily="34" charset="0"/>
                          <a:ea typeface="Calibri" panose="020F0502020204030204" pitchFamily="34" charset="0"/>
                          <a:cs typeface="Gautami" panose="020B0502040204020203" pitchFamily="34" charset="0"/>
                        </a:rPr>
                        <a:t>Content</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32758">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US - 7</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89368">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900" kern="100" dirty="0">
                          <a:effectLst/>
                          <a:latin typeface="Calibri" panose="020F0502020204030204" pitchFamily="34" charset="0"/>
                          <a:ea typeface="Calibri" panose="020F0502020204030204" pitchFamily="34" charset="0"/>
                          <a:cs typeface="Gautami" panose="020B0502040204020203" pitchFamily="34" charset="0"/>
                        </a:rPr>
                        <a:t>Create digital signature for individual datasets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271646">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900" kern="100" dirty="0">
                          <a:effectLst/>
                          <a:latin typeface="Calibri" panose="020F0502020204030204" pitchFamily="34" charset="0"/>
                          <a:ea typeface="Calibri" panose="020F0502020204030204" pitchFamily="34" charset="0"/>
                          <a:cs typeface="Gautami" panose="020B0502040204020203" pitchFamily="34" charset="0"/>
                        </a:rPr>
                        <a:t>As a data producer, I want to digitally sign individual elements within an S-100 exchange set, so that I can verify the authenticity and integrity of each specific data product for end-users, even if the overall exchange set isn't (yet) signed, or to provide an additional layer of trust.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5314118">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dirty="0">
                          <a:latin typeface="Calibri" panose="020F0502020204030204" pitchFamily="34" charset="0"/>
                          <a:ea typeface="Calibri" panose="020F0502020204030204" pitchFamily="34" charset="0"/>
                          <a:cs typeface="Calibri" panose="020F0502020204030204" pitchFamily="34" charset="0"/>
                        </a:rPr>
                        <a:t>Positive Scenario (Successful Element Signing):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has opened an editable S-100 exchange set and has selected one or more valid, unsigned elements (e.g., data products, metadata files) within it.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 valid signature type, provides a valid authentication key, and then confirms the "Sign" option for the selected element(s).</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for each selected element, the system successfully applies the digital signature.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a .sign file (or equivalent signature artifact, as per S-100 specifications) is successfully generated for each signed element, stored alongside the element or otherwise associated within the exchange set structure.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upon successful signing of the element(s).</a:t>
                      </a:r>
                    </a:p>
                    <a:p>
                      <a:r>
                        <a:rPr lang="en-US" sz="9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900" b="1" dirty="0">
                          <a:latin typeface="Calibri" panose="020F0502020204030204" pitchFamily="34" charset="0"/>
                          <a:ea typeface="Calibri" panose="020F0502020204030204" pitchFamily="34" charset="0"/>
                          <a:cs typeface="Calibri" panose="020F0502020204030204" pitchFamily="34" charset="0"/>
                        </a:rPr>
                        <a:t>Scenario 1: Element Already Signed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element within an exchange set that already contains a valid digital signature.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"Sign" it again.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re-signing, displays an informative message (e.g., "Element is already signed" or "Element must be unsigned before re-signing"), and the existing signature artifact remains unchanged.</a:t>
                      </a:r>
                    </a:p>
                    <a:p>
                      <a:r>
                        <a:rPr lang="en-US" sz="900" b="1" dirty="0">
                          <a:latin typeface="Calibri" panose="020F0502020204030204" pitchFamily="34" charset="0"/>
                          <a:ea typeface="Calibri" panose="020F0502020204030204" pitchFamily="34" charset="0"/>
                          <a:cs typeface="Calibri" panose="020F0502020204030204" pitchFamily="34" charset="0"/>
                        </a:rPr>
                        <a:t>Scenario 2: Element Incomplete/Invalid for Signing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element that is incomplete, corrupted, or otherwise invalid/unsuitable for digital signing (e.g., an unreadable file, a non-standard S-100 element type that cannot be individually signed).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"Sign" it.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specific error message indicating the reason for invalidity (e.g., "Element data is corrupted," "Unsupported element type for individual signing"), and no signature artifact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3: Invalid, Expired, or Revoked authentication Key</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element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authentication key provided is invalid OR is invalid, expired, or revoked during the validation process.</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specific error message related to the key (e.g., "Invalid authentication Key,“) and no signature artifact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4: Invalid or Missing Signature Type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element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an invalid or unsupported signature type, or fails to provide a required signature type.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specific error message about the invalid/missing signature type, and no signature artifact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5: Exchange Set (or Element) Not Editable/Locked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attempts to sign an element within an exchange set that is locked, read-only, or in a finalized state (e.g., the exchange set itself is signed and locked, or archived).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tries to select and sign an element.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"Sign" option for individual elements is disabled or greyed out, or an error message is displayed indicating that the exchange set/element cannot be modified/signed in its current state.</a:t>
                      </a:r>
                    </a:p>
                    <a:p>
                      <a:r>
                        <a:rPr lang="en-US" sz="900" b="1" dirty="0">
                          <a:latin typeface="Calibri" panose="020F0502020204030204" pitchFamily="34" charset="0"/>
                          <a:ea typeface="Calibri" panose="020F0502020204030204" pitchFamily="34" charset="0"/>
                          <a:cs typeface="Calibri" panose="020F0502020204030204" pitchFamily="34" charset="0"/>
                        </a:rPr>
                        <a:t>Scenario 6: Insufficient Permissions to Write Signature File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element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application lacks the necessary file system permissions to write the signature file for the element to its required location within the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fails to generate the signature file, displays a permission-related error message (e.g., "Access Denied: Cannot write signature file"), and the signing process fails.</a:t>
                      </a:r>
                    </a:p>
                    <a:p>
                      <a:r>
                        <a:rPr lang="en-US" sz="900" b="1" dirty="0">
                          <a:latin typeface="Calibri" panose="020F0502020204030204" pitchFamily="34" charset="0"/>
                          <a:ea typeface="Calibri" panose="020F0502020204030204" pitchFamily="34" charset="0"/>
                          <a:cs typeface="Calibri" panose="020F0502020204030204" pitchFamily="34" charset="0"/>
                        </a:rPr>
                        <a:t>Scenario 7: System Error During Signing Process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provides valid inputs and selects elements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digital signature generation (e.g., cryptographic library failure, disk I/O error, memory allocation issue).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element(s) are not signed, no signature artifact is generated (or any partially created file is cleaned up), an appropriate general error message is displayed, and the system logs the detailed error for investigation.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2558231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0" y="0"/>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2344001895"/>
              </p:ext>
            </p:extLst>
          </p:nvPr>
        </p:nvGraphicFramePr>
        <p:xfrm>
          <a:off x="84715" y="596035"/>
          <a:ext cx="8974570" cy="5860678"/>
        </p:xfrm>
        <a:graphic>
          <a:graphicData uri="http://schemas.openxmlformats.org/drawingml/2006/table">
            <a:tbl>
              <a:tblPr firstRow="1" firstCol="1" bandRow="1">
                <a:tableStyleId>{85BE263C-DBD7-4A20-BB59-AAB30ACAA65A}</a:tableStyleId>
              </a:tblPr>
              <a:tblGrid>
                <a:gridCol w="966643">
                  <a:extLst>
                    <a:ext uri="{9D8B030D-6E8A-4147-A177-3AD203B41FA5}">
                      <a16:colId xmlns:a16="http://schemas.microsoft.com/office/drawing/2014/main" val="2269260783"/>
                    </a:ext>
                  </a:extLst>
                </a:gridCol>
                <a:gridCol w="8007927">
                  <a:extLst>
                    <a:ext uri="{9D8B030D-6E8A-4147-A177-3AD203B41FA5}">
                      <a16:colId xmlns:a16="http://schemas.microsoft.com/office/drawing/2014/main" val="2551689135"/>
                    </a:ext>
                  </a:extLst>
                </a:gridCol>
              </a:tblGrid>
              <a:tr h="122637">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EPIC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a:effectLst/>
                          <a:latin typeface="Calibri" panose="020F0502020204030204" pitchFamily="34" charset="0"/>
                          <a:ea typeface="Calibri" panose="020F0502020204030204" pitchFamily="34" charset="0"/>
                          <a:cs typeface="Gautami" panose="020B0502040204020203" pitchFamily="34" charset="0"/>
                        </a:rPr>
                        <a:t>Exchange set</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76942">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US - 8</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81524">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Create digital signature for the exchange set</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263609">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900" kern="100" dirty="0">
                          <a:effectLst/>
                          <a:latin typeface="Calibri" panose="020F0502020204030204" pitchFamily="34" charset="0"/>
                          <a:ea typeface="Calibri" panose="020F0502020204030204" pitchFamily="34" charset="0"/>
                          <a:cs typeface="Gautami" panose="020B0502040204020203" pitchFamily="34" charset="0"/>
                        </a:rPr>
                        <a:t>As a data producer, I want to generate a digital signature for the S-100 exchange set, so that I can ensure its authenticity, integrity, and non-repudiation before distribution, providing trust to end-users as per the S-100 standard.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436889">
                <a:tc>
                  <a:txBody>
                    <a:bodyPr/>
                    <a:lstStyle/>
                    <a:p>
                      <a:pPr>
                        <a:lnSpc>
                          <a:spcPct val="100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dirty="0">
                          <a:latin typeface="Calibri" panose="020F0502020204030204" pitchFamily="34" charset="0"/>
                          <a:ea typeface="Calibri" panose="020F0502020204030204" pitchFamily="34" charset="0"/>
                          <a:cs typeface="Calibri" panose="020F0502020204030204" pitchFamily="34" charset="0"/>
                        </a:rPr>
                        <a:t>Positive Scenario (Successful Signing):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has selected a complete, valid, and unsigned S-100 exchange set that is ready for signing (i.e., not actively being modified),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selects the exchange set, provides a valid authentication key, provides a valid private key, provides a valid corresponding certificate, and confirms the "Sign" action,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a CATALOG.SIGN file is successfully generated using the provided private key and certificate.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CATALOG.SIGN file is added to the root folder of the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upon successful signing.</a:t>
                      </a:r>
                    </a:p>
                    <a:p>
                      <a:r>
                        <a:rPr lang="en-US" sz="9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900" b="1" dirty="0">
                          <a:latin typeface="Calibri" panose="020F0502020204030204" pitchFamily="34" charset="0"/>
                          <a:ea typeface="Calibri" panose="020F0502020204030204" pitchFamily="34" charset="0"/>
                          <a:cs typeface="Calibri" panose="020F0502020204030204" pitchFamily="34" charset="0"/>
                        </a:rPr>
                        <a:t>Scenario 1: Exchange Set Already Signed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that already contains a valid CATALOG.SIGN file,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"Sign" it again,</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re-signing, displays an informative message (e.g., "Exchange Set is already signed" or "Exchange Set must be unsigned before re-signing"), and the existing CATALOG.SIGN file remains unchanged.</a:t>
                      </a:r>
                    </a:p>
                    <a:p>
                      <a:r>
                        <a:rPr lang="en-US" sz="900" b="1" dirty="0">
                          <a:latin typeface="Calibri" panose="020F0502020204030204" pitchFamily="34" charset="0"/>
                          <a:ea typeface="Calibri" panose="020F0502020204030204" pitchFamily="34" charset="0"/>
                          <a:cs typeface="Calibri" panose="020F0502020204030204" pitchFamily="34" charset="0"/>
                        </a:rPr>
                        <a:t>Scenario 2: Exchange Set Incomplete/Invalid for Signing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that is incomplete (e.g., missing mandatory content), corrupted, or fails S-100 validation checks required before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"Sign" it,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specific error message indicating the reason for invalidity (e.g., "Exchange Set is incomplete," "Validation failed: X"), and no CATALOG.SIGN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3: Invalid, Expired, or Revoked Private Key/Certificate</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private key provided is invalid, inaccessible, or does not correspond to the certificate, OR the certificate is invalid, expired, or revoked,</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specific error message related to the key/certificate issue (e.g., "Invalid Private Key," "Certificate Expired," "Certificate Revoked"), and no CATALOG.SIGN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4: Invalid or Missing Authentication Key (if distinct from signing credentials)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authentication key provided is incorrect, missing, or invalid for the user's role or the signing process,</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an authentication failure message, and no CATALOG.SIGN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5: Exchange Set is Locked or Actively Modified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attempts to sign an exchange set,</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exchange set is currently locked by another process or user, or is in an active modification state,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signing, displays a message indicating that the exchange set is busy or locked, and suggests trying again later.</a:t>
                      </a:r>
                    </a:p>
                    <a:p>
                      <a:r>
                        <a:rPr lang="en-US" sz="900" b="1" dirty="0">
                          <a:latin typeface="Calibri" panose="020F0502020204030204" pitchFamily="34" charset="0"/>
                          <a:ea typeface="Calibri" panose="020F0502020204030204" pitchFamily="34" charset="0"/>
                          <a:cs typeface="Calibri" panose="020F0502020204030204" pitchFamily="34" charset="0"/>
                        </a:rPr>
                        <a:t>Scenario 6: System Error During Signing Process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provides valid inputs and selects an exchange set for signing,</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digital signature generation (e.g., cryptographic library failure, disk write error, memory allocation issue),</a:t>
                      </a:r>
                    </a:p>
                    <a:p>
                      <a:pPr marL="176213"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exchange set is not signed, no CATALOG.SIGN file is generated (or any partially created file is cleaned up), an appropriate general error message is displayed, and the system logs the detailed error for investigation.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2175378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326965489"/>
              </p:ext>
            </p:extLst>
          </p:nvPr>
        </p:nvGraphicFramePr>
        <p:xfrm>
          <a:off x="86302" y="1028882"/>
          <a:ext cx="8993043" cy="5278839"/>
        </p:xfrm>
        <a:graphic>
          <a:graphicData uri="http://schemas.openxmlformats.org/drawingml/2006/table">
            <a:tbl>
              <a:tblPr firstRow="1" firstCol="1" bandRow="1">
                <a:tableStyleId>{85BE263C-DBD7-4A20-BB59-AAB30ACAA65A}</a:tableStyleId>
              </a:tblPr>
              <a:tblGrid>
                <a:gridCol w="1040534">
                  <a:extLst>
                    <a:ext uri="{9D8B030D-6E8A-4147-A177-3AD203B41FA5}">
                      <a16:colId xmlns:a16="http://schemas.microsoft.com/office/drawing/2014/main" val="2269260783"/>
                    </a:ext>
                  </a:extLst>
                </a:gridCol>
                <a:gridCol w="7952509">
                  <a:extLst>
                    <a:ext uri="{9D8B030D-6E8A-4147-A177-3AD203B41FA5}">
                      <a16:colId xmlns:a16="http://schemas.microsoft.com/office/drawing/2014/main" val="2551689135"/>
                    </a:ext>
                  </a:extLst>
                </a:gridCol>
              </a:tblGrid>
              <a:tr h="136169">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EPIC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a:effectLst/>
                          <a:latin typeface="Calibri" panose="020F0502020204030204" pitchFamily="34" charset="0"/>
                          <a:ea typeface="Calibri" panose="020F0502020204030204" pitchFamily="34" charset="0"/>
                          <a:cs typeface="Gautami" panose="020B0502040204020203" pitchFamily="34" charset="0"/>
                        </a:rPr>
                        <a:t>Exchange set</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36169">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US - 9</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36169">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900" kern="100" dirty="0">
                          <a:effectLst/>
                          <a:latin typeface="Calibri" panose="020F0502020204030204" pitchFamily="34" charset="0"/>
                          <a:ea typeface="Calibri" panose="020F0502020204030204" pitchFamily="34" charset="0"/>
                          <a:cs typeface="Gautami" panose="020B0502040204020203" pitchFamily="34" charset="0"/>
                        </a:rPr>
                        <a:t>Package and download the exchange set</a:t>
                      </a:r>
                      <a:endParaRPr lang="en-IN" sz="9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272337">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900" kern="100" dirty="0">
                          <a:effectLst/>
                          <a:latin typeface="Calibri" panose="020F0502020204030204" pitchFamily="34" charset="0"/>
                          <a:ea typeface="Calibri" panose="020F0502020204030204" pitchFamily="34" charset="0"/>
                          <a:cs typeface="Gautami" panose="020B0502040204020203" pitchFamily="34" charset="0"/>
                        </a:rPr>
                        <a:t>As a data producer, I want to package an S-100 exchange set into a single compressed .zip file, so that I can efficiently transfer the complete, standardized data package to clients and ensure its integrity during distribution.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571003">
                <a:tc>
                  <a:txBody>
                    <a:bodyPr/>
                    <a:lstStyle/>
                    <a:p>
                      <a:pPr>
                        <a:lnSpc>
                          <a:spcPct val="107000"/>
                        </a:lnSpc>
                        <a:spcAft>
                          <a:spcPts val="0"/>
                        </a:spcAft>
                      </a:pPr>
                      <a:r>
                        <a:rPr lang="en-US" sz="9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9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dirty="0">
                          <a:latin typeface="Calibri" panose="020F0502020204030204" pitchFamily="34" charset="0"/>
                          <a:ea typeface="Calibri" panose="020F0502020204030204" pitchFamily="34" charset="0"/>
                          <a:cs typeface="Calibri" panose="020F0502020204030204" pitchFamily="34" charset="0"/>
                        </a:rPr>
                        <a:t>Positive Scenario (Successful Packaging):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has selected a valid, complete, and finalized S-100 exchange set that is ready for packaging.</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provides a valid authentication key,</a:t>
                      </a:r>
                      <a:r>
                        <a:rPr lang="en-US" sz="900" b="0" baseline="0" dirty="0">
                          <a:latin typeface="Calibri" panose="020F0502020204030204" pitchFamily="34" charset="0"/>
                          <a:ea typeface="Calibri" panose="020F0502020204030204" pitchFamily="34" charset="0"/>
                          <a:cs typeface="Calibri" panose="020F0502020204030204" pitchFamily="34" charset="0"/>
                        </a:rPr>
                        <a:t> </a:t>
                      </a:r>
                      <a:r>
                        <a:rPr lang="en-US" sz="900" b="0" dirty="0">
                          <a:latin typeface="Calibri" panose="020F0502020204030204" pitchFamily="34" charset="0"/>
                          <a:ea typeface="Calibri" panose="020F0502020204030204" pitchFamily="34" charset="0"/>
                          <a:cs typeface="Calibri" panose="020F0502020204030204" pitchFamily="34" charset="0"/>
                        </a:rPr>
                        <a:t>specifies a valid and accessible destination folder, and selects the "Package" option.</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a single .zip file is successfully generated in the specified destination folder.</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.zip file contains the entire S-100 exchange set structure (including all products, CATALOG.XML, and CATALOG.SIGN if present) at its root.</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.zip file is named according to a specified convention (e.g., based on exchange set name).</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of successful packaging, along with the exact location of the generated file.</a:t>
                      </a:r>
                    </a:p>
                    <a:p>
                      <a:r>
                        <a:rPr lang="en-US" sz="9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900" b="1" dirty="0">
                          <a:latin typeface="Calibri" panose="020F0502020204030204" pitchFamily="34" charset="0"/>
                          <a:ea typeface="Calibri" panose="020F0502020204030204" pitchFamily="34" charset="0"/>
                          <a:cs typeface="Calibri" panose="020F0502020204030204" pitchFamily="34" charset="0"/>
                        </a:rPr>
                        <a:t>Scenario 1: Exchange Set Incomplete/Invalid for Packaging</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that is incomplete (e.g., missing mandatory files), corrupted, or fails S-100 validation checks required before packaging.</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data producer attempts to package it.</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packaging, displays a specific error message indicating the reason for invalidity (e.g., "Exchange Set is incomplete," "Validation failed: X"), and no .zip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2: Invalid or Missing Authentication Key</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for packaging.</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authentication key provided is incorrect, missing, or invalid for the user's role or the packaging process.</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packaging, displays an authentication failure message, and no .zip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3: Invalid or Inaccessible Destination Folder</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selects an exchange set for packaging.</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specified destination folder is non-existent, invalid, or the application (or user) lacks sufficient write permissions to it.</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packaging, displays a specific error message related to the destination (e.g., "Invalid Path," "Access Denied: Cannot write to folder"), and no .zip file is generated.</a:t>
                      </a:r>
                    </a:p>
                    <a:p>
                      <a:r>
                        <a:rPr lang="en-US" sz="900" b="1" dirty="0">
                          <a:latin typeface="Calibri" panose="020F0502020204030204" pitchFamily="34" charset="0"/>
                          <a:ea typeface="Calibri" panose="020F0502020204030204" pitchFamily="34" charset="0"/>
                          <a:cs typeface="Calibri" panose="020F0502020204030204" pitchFamily="34" charset="0"/>
                        </a:rPr>
                        <a:t>Scenario 4: Exchange Set is Locked or Actively Modified</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attempts to package an exchange set.</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the exchange set is currently locked by another process or user, or is in an active modification state that prevents consistent reading of its contents.</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system prevents packaging, displays a message indicating that the exchange set is busy or locked, and suggests trying again later.</a:t>
                      </a:r>
                    </a:p>
                    <a:p>
                      <a:r>
                        <a:rPr lang="en-US" sz="900" b="1" dirty="0">
                          <a:latin typeface="Calibri" panose="020F0502020204030204" pitchFamily="34" charset="0"/>
                          <a:ea typeface="Calibri" panose="020F0502020204030204" pitchFamily="34" charset="0"/>
                          <a:cs typeface="Calibri" panose="020F0502020204030204" pitchFamily="34" charset="0"/>
                        </a:rPr>
                        <a:t>Scenario 5: System Error During Compression</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Given a data producer provides valid inputs and selects an exchange set for packaging.</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file compression process (e.g., I/O error, unexpected internal compression library failure, memory allocation issue).</a:t>
                      </a:r>
                    </a:p>
                    <a:p>
                      <a:pPr marL="171450" lvl="1" indent="-171450">
                        <a:buFont typeface="Arial" panose="020B0604020202020204" pitchFamily="34" charset="0"/>
                        <a:buChar char="•"/>
                      </a:pPr>
                      <a:r>
                        <a:rPr lang="en-US" sz="900" b="0" dirty="0">
                          <a:latin typeface="Calibri" panose="020F0502020204030204" pitchFamily="34" charset="0"/>
                          <a:ea typeface="Calibri" panose="020F0502020204030204" pitchFamily="34" charset="0"/>
                          <a:cs typeface="Calibri" panose="020F0502020204030204" pitchFamily="34" charset="0"/>
                        </a:rPr>
                        <a:t>Then the exchange set is not packaged, no .zip file is generated (or any partially created file is cleaned up), an appropriate general error message is displayed, and the system logs the detailed error for investigation.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1670000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281288316"/>
              </p:ext>
            </p:extLst>
          </p:nvPr>
        </p:nvGraphicFramePr>
        <p:xfrm>
          <a:off x="114300" y="1065827"/>
          <a:ext cx="8943975" cy="5151088"/>
        </p:xfrm>
        <a:graphic>
          <a:graphicData uri="http://schemas.openxmlformats.org/drawingml/2006/table">
            <a:tbl>
              <a:tblPr firstRow="1" firstCol="1" bandRow="1">
                <a:tableStyleId>{85BE263C-DBD7-4A20-BB59-AAB30ACAA65A}</a:tableStyleId>
              </a:tblPr>
              <a:tblGrid>
                <a:gridCol w="1304925">
                  <a:extLst>
                    <a:ext uri="{9D8B030D-6E8A-4147-A177-3AD203B41FA5}">
                      <a16:colId xmlns:a16="http://schemas.microsoft.com/office/drawing/2014/main" val="2269260783"/>
                    </a:ext>
                  </a:extLst>
                </a:gridCol>
                <a:gridCol w="7639050">
                  <a:extLst>
                    <a:ext uri="{9D8B030D-6E8A-4147-A177-3AD203B41FA5}">
                      <a16:colId xmlns:a16="http://schemas.microsoft.com/office/drawing/2014/main" val="2551689135"/>
                    </a:ext>
                  </a:extLst>
                </a:gridCol>
              </a:tblGrid>
              <a:tr h="430502">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a:effectLst/>
                          <a:latin typeface="Calibri" panose="020F0502020204030204" pitchFamily="34" charset="0"/>
                          <a:ea typeface="Calibri" panose="020F0502020204030204" pitchFamily="34" charset="0"/>
                          <a:cs typeface="Gautami" panose="020B0502040204020203" pitchFamily="34" charset="0"/>
                        </a:rPr>
                        <a:t>Exchange set</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385754">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US - 10</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353117">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Delete exchange set from workspace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573698">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As a data producer, I want to easily identify and delete unused exchange sets from my workspace, so that I can maintain a clean and organized environment and avoid clutter.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3408017">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33035" rtl="0" eaLnBrk="1" fontAlgn="auto" latinLnBrk="0" hangingPunct="1">
                        <a:lnSpc>
                          <a:spcPct val="100000"/>
                        </a:lnSpc>
                        <a:spcBef>
                          <a:spcPts val="600"/>
                        </a:spcBef>
                        <a:spcAft>
                          <a:spcPts val="600"/>
                        </a:spcAft>
                        <a:buClrTx/>
                        <a:buSzTx/>
                        <a:buFont typeface="Wingdings" panose="05000000000000000000" pitchFamily="2" charset="2"/>
                        <a:buNone/>
                        <a:tabLst/>
                        <a:defRPr/>
                      </a:pPr>
                      <a:r>
                        <a:rPr lang="en-US" sz="1100" b="1" dirty="0">
                          <a:latin typeface="Calibri" panose="020F0502020204030204" pitchFamily="34" charset="0"/>
                          <a:ea typeface="Calibri" panose="020F0502020204030204" pitchFamily="34" charset="0"/>
                          <a:cs typeface="Calibri" panose="020F0502020204030204" pitchFamily="34" charset="0"/>
                        </a:rPr>
                        <a:t>Positive Scenario (Successful Packaging):</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p>
                      <a:pPr marL="171450" lvl="1" indent="-171450" algn="l" defTabSz="633035" rtl="0" eaLnBrk="1" latinLnBrk="0" hangingPunct="1">
                        <a:lnSpc>
                          <a:spcPct val="100000"/>
                        </a:lnSpc>
                        <a:spcBef>
                          <a:spcPts val="0"/>
                        </a:spcBef>
                        <a:spcAft>
                          <a:spcPts val="0"/>
                        </a:spcAft>
                        <a:buFont typeface="Arial" panose="020B0604020202020204" pitchFamily="34" charset="0"/>
                        <a:buChar char="•"/>
                      </a:pPr>
                      <a:r>
                        <a:rPr lang="en-IN" sz="1100" b="0" kern="1200" dirty="0">
                          <a:solidFill>
                            <a:schemeClr val="dk1"/>
                          </a:solidFill>
                          <a:latin typeface="Calibri" panose="020F0502020204030204" pitchFamily="34" charset="0"/>
                          <a:ea typeface="Calibri" panose="020F0502020204030204" pitchFamily="34" charset="0"/>
                          <a:cs typeface="Calibri" panose="020F0502020204030204" pitchFamily="34" charset="0"/>
                        </a:rPr>
                        <a:t>Given a data producer views a list of exchange sets in their workspace,</a:t>
                      </a:r>
                    </a:p>
                    <a:p>
                      <a:pPr marL="171450" lvl="1" indent="-171450" algn="l" defTabSz="633035" rtl="0" eaLnBrk="1" latinLnBrk="0" hangingPunct="1">
                        <a:lnSpc>
                          <a:spcPct val="100000"/>
                        </a:lnSpc>
                        <a:spcBef>
                          <a:spcPts val="0"/>
                        </a:spcBef>
                        <a:spcAft>
                          <a:spcPts val="0"/>
                        </a:spcAft>
                        <a:buFont typeface="Arial" panose="020B0604020202020204" pitchFamily="34" charset="0"/>
                        <a:buChar char="•"/>
                      </a:pPr>
                      <a:r>
                        <a:rPr lang="en-IN" sz="1100" b="0" kern="1200" dirty="0">
                          <a:solidFill>
                            <a:schemeClr val="dk1"/>
                          </a:solidFill>
                          <a:latin typeface="Calibri" panose="020F0502020204030204" pitchFamily="34" charset="0"/>
                          <a:ea typeface="Calibri" panose="020F0502020204030204" pitchFamily="34" charset="0"/>
                          <a:cs typeface="Calibri" panose="020F0502020204030204" pitchFamily="34" charset="0"/>
                        </a:rPr>
                        <a:t>When the data producer selects one or more unused exchange sets and chooses to delete them,</a:t>
                      </a:r>
                    </a:p>
                    <a:p>
                      <a:pPr marL="171450" lvl="1" indent="-171450" algn="l" defTabSz="633035" rtl="0" eaLnBrk="1" latinLnBrk="0" hangingPunct="1">
                        <a:lnSpc>
                          <a:spcPct val="100000"/>
                        </a:lnSpc>
                        <a:spcBef>
                          <a:spcPts val="0"/>
                        </a:spcBef>
                        <a:spcAft>
                          <a:spcPts val="0"/>
                        </a:spcAft>
                        <a:buFont typeface="Arial" panose="020B0604020202020204" pitchFamily="34" charset="0"/>
                        <a:buChar char="•"/>
                      </a:pPr>
                      <a:r>
                        <a:rPr lang="en-IN" sz="1100" b="0" kern="1200" dirty="0">
                          <a:solidFill>
                            <a:schemeClr val="dk1"/>
                          </a:solidFill>
                          <a:latin typeface="Calibri" panose="020F0502020204030204" pitchFamily="34" charset="0"/>
                          <a:ea typeface="Calibri" panose="020F0502020204030204" pitchFamily="34" charset="0"/>
                          <a:cs typeface="Calibri" panose="020F0502020204030204" pitchFamily="34" charset="0"/>
                        </a:rPr>
                        <a:t>Then the selected exchange sets including all their contents and associated files, are permanently and irrecoverably removed from the workspace storage.</a:t>
                      </a:r>
                    </a:p>
                    <a:p>
                      <a:pPr marL="171450" lvl="1" indent="-171450" algn="l" defTabSz="633035" rtl="0" eaLnBrk="1" latinLnBrk="0" hangingPunct="1">
                        <a:lnSpc>
                          <a:spcPct val="100000"/>
                        </a:lnSpc>
                        <a:spcBef>
                          <a:spcPts val="0"/>
                        </a:spcBef>
                        <a:spcAft>
                          <a:spcPts val="0"/>
                        </a:spcAft>
                        <a:buFont typeface="Arial" panose="020B0604020202020204" pitchFamily="34" charset="0"/>
                        <a:buChar char="•"/>
                      </a:pPr>
                      <a:r>
                        <a:rPr lang="en-IN" sz="1100" b="0" kern="1200" dirty="0">
                          <a:solidFill>
                            <a:schemeClr val="dk1"/>
                          </a:solidFill>
                          <a:latin typeface="Calibri" panose="020F0502020204030204" pitchFamily="34" charset="0"/>
                          <a:ea typeface="Calibri" panose="020F0502020204030204" pitchFamily="34" charset="0"/>
                          <a:cs typeface="Calibri" panose="020F0502020204030204" pitchFamily="34" charset="0"/>
                        </a:rPr>
                        <a:t>And the deleted exchange sets are no longer visible in the list of available exchange sets.</a:t>
                      </a:r>
                    </a:p>
                    <a:p>
                      <a:pPr marL="171450" lvl="1" indent="-171450" algn="l" defTabSz="633035" rtl="0" eaLnBrk="1" latinLnBrk="0" hangingPunct="1">
                        <a:lnSpc>
                          <a:spcPct val="100000"/>
                        </a:lnSpc>
                        <a:spcBef>
                          <a:spcPts val="0"/>
                        </a:spcBef>
                        <a:spcAft>
                          <a:spcPts val="0"/>
                        </a:spcAft>
                        <a:buFont typeface="Arial" panose="020B0604020202020204" pitchFamily="34" charset="0"/>
                        <a:buChar char="•"/>
                      </a:pPr>
                      <a:r>
                        <a:rPr lang="en-IN" sz="1100" b="0" kern="1200" dirty="0">
                          <a:solidFill>
                            <a:schemeClr val="dk1"/>
                          </a:solidFill>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indicating successful deletion.</a:t>
                      </a:r>
                    </a:p>
                    <a:p>
                      <a:pPr marL="0" marR="0" lvl="0" indent="0" algn="l" defTabSz="633035"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Scenario 1: Exchange Set is Locked or Actively Modified</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1450"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attempts to delete an exchange set.</a:t>
                      </a:r>
                    </a:p>
                    <a:p>
                      <a:pPr marL="171450"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exchange set is currently locked by another process or user, or is in an active modification state that prevents consistent reading of its contents.</a:t>
                      </a:r>
                    </a:p>
                    <a:p>
                      <a:pPr marL="171450"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packaging, displays a message indicating that the exchange set is busy or locked, and suggests trying again later.</a:t>
                      </a:r>
                    </a:p>
                    <a:p>
                      <a:r>
                        <a:rPr lang="en-US" sz="1100" b="1" dirty="0">
                          <a:latin typeface="Calibri" panose="020F0502020204030204" pitchFamily="34" charset="0"/>
                          <a:ea typeface="Calibri" panose="020F0502020204030204" pitchFamily="34" charset="0"/>
                          <a:cs typeface="Calibri" panose="020F0502020204030204" pitchFamily="34" charset="0"/>
                        </a:rPr>
                        <a:t>Scenario 2: Insufficient Permissions </a:t>
                      </a:r>
                    </a:p>
                    <a:p>
                      <a:pPr marL="171450"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an element for deleting.</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application lacks the necessary file system permissions to delete the exchange set from</a:t>
                      </a:r>
                      <a:r>
                        <a:rPr lang="en-US" sz="1100" b="0" baseline="0" dirty="0">
                          <a:latin typeface="Calibri" panose="020F0502020204030204" pitchFamily="34" charset="0"/>
                          <a:ea typeface="Calibri" panose="020F0502020204030204" pitchFamily="34" charset="0"/>
                          <a:cs typeface="Calibri" panose="020F0502020204030204" pitchFamily="34" charset="0"/>
                        </a:rPr>
                        <a:t> the workspace</a:t>
                      </a:r>
                      <a:r>
                        <a:rPr lang="en-US" sz="1100" b="0" dirty="0">
                          <a:latin typeface="Calibri" panose="020F0502020204030204" pitchFamily="34" charset="0"/>
                          <a:ea typeface="Calibri" panose="020F0502020204030204" pitchFamily="34" charset="0"/>
                          <a:cs typeface="Calibri" panose="020F0502020204030204" pitchFamily="34" charset="0"/>
                        </a:rPr>
                        <a: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fails to delete the exchange set, displays a permission-related error message (e.g., "Access Denied: Cannot delete files"), and the exchange set remains in the workspace.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3328536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Scope Exploration</a:t>
            </a:r>
          </a:p>
        </p:txBody>
      </p:sp>
      <p:graphicFrame>
        <p:nvGraphicFramePr>
          <p:cNvPr id="7" name="Table 6"/>
          <p:cNvGraphicFramePr>
            <a:graphicFrameLocks noGrp="1"/>
          </p:cNvGraphicFramePr>
          <p:nvPr>
            <p:extLst>
              <p:ext uri="{D42A27DB-BD31-4B8C-83A1-F6EECF244321}">
                <p14:modId xmlns:p14="http://schemas.microsoft.com/office/powerpoint/2010/main" val="1446102572"/>
              </p:ext>
            </p:extLst>
          </p:nvPr>
        </p:nvGraphicFramePr>
        <p:xfrm>
          <a:off x="95827" y="1038123"/>
          <a:ext cx="8943975" cy="5595032"/>
        </p:xfrm>
        <a:graphic>
          <a:graphicData uri="http://schemas.openxmlformats.org/drawingml/2006/table">
            <a:tbl>
              <a:tblPr firstRow="1" firstCol="1" bandRow="1">
                <a:tableStyleId>{85BE263C-DBD7-4A20-BB59-AAB30ACAA65A}</a:tableStyleId>
              </a:tblPr>
              <a:tblGrid>
                <a:gridCol w="1304925">
                  <a:extLst>
                    <a:ext uri="{9D8B030D-6E8A-4147-A177-3AD203B41FA5}">
                      <a16:colId xmlns:a16="http://schemas.microsoft.com/office/drawing/2014/main" val="2269260783"/>
                    </a:ext>
                  </a:extLst>
                </a:gridCol>
                <a:gridCol w="7639050">
                  <a:extLst>
                    <a:ext uri="{9D8B030D-6E8A-4147-A177-3AD203B41FA5}">
                      <a16:colId xmlns:a16="http://schemas.microsoft.com/office/drawing/2014/main" val="2551689135"/>
                    </a:ext>
                  </a:extLst>
                </a:gridCol>
              </a:tblGrid>
              <a:tr h="194190">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EPIC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a:effectLst/>
                          <a:latin typeface="Calibri" panose="020F0502020204030204" pitchFamily="34" charset="0"/>
                          <a:ea typeface="Calibri" panose="020F0502020204030204" pitchFamily="34" charset="0"/>
                          <a:cs typeface="Gautami" panose="020B0502040204020203" pitchFamily="34" charset="0"/>
                        </a:rPr>
                        <a:t>Exchange set</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621994"/>
                  </a:ext>
                </a:extLst>
              </a:tr>
              <a:tr h="174005">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ID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100" kern="100" dirty="0">
                          <a:effectLst/>
                          <a:latin typeface="Calibri" panose="020F0502020204030204" pitchFamily="34" charset="0"/>
                          <a:ea typeface="Calibri" panose="020F0502020204030204" pitchFamily="34" charset="0"/>
                          <a:cs typeface="Gautami" panose="020B0502040204020203" pitchFamily="34" charset="0"/>
                        </a:rPr>
                        <a:t>US - 11</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02331"/>
                  </a:ext>
                </a:extLst>
              </a:tr>
              <a:tr h="182079">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Name</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Lock</a:t>
                      </a:r>
                      <a:r>
                        <a:rPr lang="en-IN" sz="1100" kern="100" baseline="0" dirty="0">
                          <a:effectLst/>
                          <a:latin typeface="Calibri" panose="020F0502020204030204" pitchFamily="34" charset="0"/>
                          <a:ea typeface="Calibri" panose="020F0502020204030204" pitchFamily="34" charset="0"/>
                          <a:cs typeface="Gautami" panose="020B0502040204020203" pitchFamily="34" charset="0"/>
                        </a:rPr>
                        <a:t> or Unlock </a:t>
                      </a:r>
                      <a:r>
                        <a:rPr lang="en-IN" sz="1100" kern="100" dirty="0">
                          <a:effectLst/>
                          <a:latin typeface="Calibri" panose="020F0502020204030204" pitchFamily="34" charset="0"/>
                          <a:ea typeface="Calibri" panose="020F0502020204030204" pitchFamily="34" charset="0"/>
                          <a:cs typeface="Gautami" panose="020B0502040204020203" pitchFamily="34" charset="0"/>
                        </a:rPr>
                        <a:t>exchange set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575821"/>
                  </a:ext>
                </a:extLst>
              </a:tr>
              <a:tr h="334037">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User Story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100" kern="100" dirty="0">
                          <a:effectLst/>
                          <a:latin typeface="Calibri" panose="020F0502020204030204" pitchFamily="34" charset="0"/>
                          <a:ea typeface="Calibri" panose="020F0502020204030204" pitchFamily="34" charset="0"/>
                          <a:cs typeface="Gautami" panose="020B0502040204020203" pitchFamily="34" charset="0"/>
                        </a:rPr>
                        <a:t>As a data producer, I want to lock the exchange set. So that I can protect the exchange set from the unnecessary</a:t>
                      </a:r>
                      <a:r>
                        <a:rPr lang="en-IN" sz="1100" kern="100" baseline="0" dirty="0">
                          <a:effectLst/>
                          <a:latin typeface="Calibri" panose="020F0502020204030204" pitchFamily="34" charset="0"/>
                          <a:ea typeface="Calibri" panose="020F0502020204030204" pitchFamily="34" charset="0"/>
                          <a:cs typeface="Gautami" panose="020B0502040204020203" pitchFamily="34" charset="0"/>
                        </a:rPr>
                        <a:t> or accidental operations.</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854703"/>
                  </a:ext>
                </a:extLst>
              </a:tr>
              <a:tr h="4469132">
                <a:tc>
                  <a:txBody>
                    <a:bodyPr/>
                    <a:lstStyle/>
                    <a:p>
                      <a:pPr>
                        <a:lnSpc>
                          <a:spcPct val="107000"/>
                        </a:lnSpc>
                        <a:spcAft>
                          <a:spcPts val="0"/>
                        </a:spcAft>
                      </a:pPr>
                      <a:r>
                        <a:rPr lang="en-US" sz="1100" b="1" kern="100">
                          <a:effectLst/>
                          <a:latin typeface="Calibri" panose="020F0502020204030204" pitchFamily="34" charset="0"/>
                          <a:ea typeface="Calibri" panose="020F0502020204030204" pitchFamily="34" charset="0"/>
                          <a:cs typeface="Gautami" panose="020B0502040204020203" pitchFamily="34" charset="0"/>
                        </a:rPr>
                        <a:t>Acceptance Criteria </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b="1" dirty="0">
                          <a:latin typeface="Calibri" panose="020F0502020204030204" pitchFamily="34" charset="0"/>
                          <a:ea typeface="Calibri" panose="020F0502020204030204" pitchFamily="34" charset="0"/>
                          <a:cs typeface="Calibri" panose="020F0502020204030204" pitchFamily="34" charset="0"/>
                        </a:rPr>
                        <a:t>Positive Scenario (Successful Locking):</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is viewing an unlocked, editable S-100 exchange set in their workspace, and has the necessary permissions to modify its lock status.</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selects the exchange set and chooses the "Lock" option, and confirms the action if prompted.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selected exchange set's status is updated to "Locked".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all operations that modify the exchange set's content or structure (e.g., adding products, removing products, modifying metadata, deleting the exchange set, re-signing the entire exchange set, packaging) become disabled or are prevented for that specific exchange set.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data producer receives a clear confirmation message that the exchange set has been successfully locked.</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And the UI clearly indicates the locked status of the exchange set (e.g., with an icon, a "Locked" label, or disabled controls).</a:t>
                      </a:r>
                    </a:p>
                    <a:p>
                      <a:r>
                        <a:rPr lang="en-US" sz="1100" b="1" dirty="0">
                          <a:latin typeface="Calibri" panose="020F0502020204030204" pitchFamily="34" charset="0"/>
                          <a:ea typeface="Calibri" panose="020F0502020204030204" pitchFamily="34" charset="0"/>
                          <a:cs typeface="Calibri" panose="020F0502020204030204" pitchFamily="34" charset="0"/>
                        </a:rPr>
                        <a:t>Negative Scenarios (Failure/Error Conditions):</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Scenario 1: Insufficient Permissions to Lock</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an exchange set.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attempts to "Lock" the exchange set without the necessary permissions (e.g., only an administrator can lock, or the user is not the owner).</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the action, displays a permission-denied error message, and the exchange set remains unlocked.</a:t>
                      </a:r>
                    </a:p>
                    <a:p>
                      <a:r>
                        <a:rPr lang="en-US" sz="1100" b="1" dirty="0">
                          <a:latin typeface="Calibri" panose="020F0502020204030204" pitchFamily="34" charset="0"/>
                          <a:ea typeface="Calibri" panose="020F0502020204030204" pitchFamily="34" charset="0"/>
                          <a:cs typeface="Calibri" panose="020F0502020204030204" pitchFamily="34" charset="0"/>
                        </a:rPr>
                        <a:t>Scenario 3: Exchange Set is in an Invalid State for Locking</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selects an exchange set that is currently undergoing another critical operation (e.g., active packaging, signing process, validation, or an ongoing data transfer).</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the data producer attempts to "Lock" it.</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system prevents the action, displays an error message indicating that the exchange set is busy or in an unstable state, and suggests trying again later.</a:t>
                      </a:r>
                    </a:p>
                    <a:p>
                      <a:r>
                        <a:rPr lang="en-US" sz="1100" b="1" dirty="0">
                          <a:latin typeface="Calibri" panose="020F0502020204030204" pitchFamily="34" charset="0"/>
                          <a:ea typeface="Calibri" panose="020F0502020204030204" pitchFamily="34" charset="0"/>
                          <a:cs typeface="Calibri" panose="020F0502020204030204" pitchFamily="34" charset="0"/>
                        </a:rPr>
                        <a:t>Scenario 4: System Error During Locking Process</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Given a data producer attempts to lock a valid, unlocked exchange set with proper permissions.</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When an unexpected system error occurs during the process of updating the exchange set's status or its underlying files/database entry.</a:t>
                      </a:r>
                    </a:p>
                    <a:p>
                      <a:pPr marL="176213" lvl="1" indent="-171450">
                        <a:buFont typeface="Arial" panose="020B0604020202020204" pitchFamily="34" charset="0"/>
                        <a:buChar char="•"/>
                      </a:pPr>
                      <a:r>
                        <a:rPr lang="en-US" sz="1100" b="0" dirty="0">
                          <a:latin typeface="Calibri" panose="020F0502020204030204" pitchFamily="34" charset="0"/>
                          <a:ea typeface="Calibri" panose="020F0502020204030204" pitchFamily="34" charset="0"/>
                          <a:cs typeface="Calibri" panose="020F0502020204030204" pitchFamily="34" charset="0"/>
                        </a:rPr>
                        <a:t>Then the exchange set is not locked, an appropriate general error message is displayed to the data producer, and the system logs the detailed error for investigation.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7892538"/>
                  </a:ext>
                </a:extLst>
              </a:tr>
            </a:tbl>
          </a:graphicData>
        </a:graphic>
      </p:graphicFrame>
    </p:spTree>
    <p:extLst>
      <p:ext uri="{BB962C8B-B14F-4D97-AF65-F5344CB8AC3E}">
        <p14:creationId xmlns:p14="http://schemas.microsoft.com/office/powerpoint/2010/main" val="3216342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Architecture Strategy</a:t>
            </a:r>
          </a:p>
        </p:txBody>
      </p:sp>
      <p:sp>
        <p:nvSpPr>
          <p:cNvPr id="5" name="Rectangle 4"/>
          <p:cNvSpPr/>
          <p:nvPr/>
        </p:nvSpPr>
        <p:spPr>
          <a:xfrm>
            <a:off x="189342" y="1035817"/>
            <a:ext cx="2794004" cy="646331"/>
          </a:xfrm>
          <a:prstGeom prst="rect">
            <a:avLst/>
          </a:prstGeom>
        </p:spPr>
        <p:txBody>
          <a:bodyPr wrap="square">
            <a:spAutoFit/>
          </a:bodyPr>
          <a:lstStyle/>
          <a:p>
            <a:r>
              <a:rPr lang="en-US" b="1" dirty="0">
                <a:solidFill>
                  <a:srgbClr val="C00000"/>
                </a:solidFill>
                <a:latin typeface="Arial" panose="020B0604020202020204" pitchFamily="34" charset="0"/>
                <a:cs typeface="Arial" panose="020B0604020202020204" pitchFamily="34" charset="0"/>
              </a:rPr>
              <a:t>Architecture Overview: </a:t>
            </a:r>
          </a:p>
          <a:p>
            <a:r>
              <a:rPr lang="en-US" b="1" dirty="0">
                <a:solidFill>
                  <a:srgbClr val="C00000"/>
                </a:solidFill>
                <a:latin typeface="Arial" panose="020B0604020202020204" pitchFamily="34" charset="0"/>
                <a:cs typeface="Arial" panose="020B0604020202020204" pitchFamily="34" charset="0"/>
              </a:rPr>
              <a:t>C4 Context diagram</a:t>
            </a:r>
          </a:p>
        </p:txBody>
      </p:sp>
      <p:pic>
        <p:nvPicPr>
          <p:cNvPr id="2" name="Picture 1"/>
          <p:cNvPicPr>
            <a:picLocks noChangeAspect="1"/>
          </p:cNvPicPr>
          <p:nvPr/>
        </p:nvPicPr>
        <p:blipFill>
          <a:blip r:embed="rId2"/>
          <a:stretch>
            <a:fillRect/>
          </a:stretch>
        </p:blipFill>
        <p:spPr>
          <a:xfrm>
            <a:off x="2983346" y="1035817"/>
            <a:ext cx="2844799" cy="5239064"/>
          </a:xfrm>
          <a:prstGeom prst="rect">
            <a:avLst/>
          </a:prstGeom>
        </p:spPr>
      </p:pic>
    </p:spTree>
    <p:extLst>
      <p:ext uri="{BB962C8B-B14F-4D97-AF65-F5344CB8AC3E}">
        <p14:creationId xmlns:p14="http://schemas.microsoft.com/office/powerpoint/2010/main" val="1334698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Architecture Strategy</a:t>
            </a:r>
          </a:p>
        </p:txBody>
      </p:sp>
      <p:sp>
        <p:nvSpPr>
          <p:cNvPr id="5" name="Rectangle 4"/>
          <p:cNvSpPr/>
          <p:nvPr/>
        </p:nvSpPr>
        <p:spPr>
          <a:xfrm>
            <a:off x="189342" y="1035817"/>
            <a:ext cx="2692404" cy="646331"/>
          </a:xfrm>
          <a:prstGeom prst="rect">
            <a:avLst/>
          </a:prstGeom>
        </p:spPr>
        <p:txBody>
          <a:bodyPr wrap="square">
            <a:spAutoFit/>
          </a:bodyPr>
          <a:lstStyle/>
          <a:p>
            <a:r>
              <a:rPr lang="en-US" b="1" dirty="0">
                <a:solidFill>
                  <a:srgbClr val="C00000"/>
                </a:solidFill>
                <a:latin typeface="Arial" panose="020B0604020202020204" pitchFamily="34" charset="0"/>
                <a:cs typeface="Arial" panose="020B0604020202020204" pitchFamily="34" charset="0"/>
              </a:rPr>
              <a:t>Architecture Overview: C4 Container diagram</a:t>
            </a:r>
          </a:p>
        </p:txBody>
      </p:sp>
      <p:pic>
        <p:nvPicPr>
          <p:cNvPr id="11" name="Picture 10"/>
          <p:cNvPicPr>
            <a:picLocks noChangeAspect="1"/>
          </p:cNvPicPr>
          <p:nvPr/>
        </p:nvPicPr>
        <p:blipFill>
          <a:blip r:embed="rId2"/>
          <a:stretch>
            <a:fillRect/>
          </a:stretch>
        </p:blipFill>
        <p:spPr>
          <a:xfrm>
            <a:off x="2881747" y="1002684"/>
            <a:ext cx="5458689" cy="5308575"/>
          </a:xfrm>
          <a:prstGeom prst="rect">
            <a:avLst/>
          </a:prstGeom>
        </p:spPr>
      </p:pic>
    </p:spTree>
    <p:extLst>
      <p:ext uri="{BB962C8B-B14F-4D97-AF65-F5344CB8AC3E}">
        <p14:creationId xmlns:p14="http://schemas.microsoft.com/office/powerpoint/2010/main" val="339091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Architecture Strategy</a:t>
            </a:r>
          </a:p>
        </p:txBody>
      </p:sp>
      <p:sp>
        <p:nvSpPr>
          <p:cNvPr id="5" name="Rectangle 4"/>
          <p:cNvSpPr/>
          <p:nvPr/>
        </p:nvSpPr>
        <p:spPr>
          <a:xfrm>
            <a:off x="189341" y="1101636"/>
            <a:ext cx="2258295" cy="369332"/>
          </a:xfrm>
          <a:prstGeom prst="rect">
            <a:avLst/>
          </a:prstGeom>
        </p:spPr>
        <p:txBody>
          <a:bodyPr wrap="square">
            <a:spAutoFit/>
          </a:bodyPr>
          <a:lstStyle/>
          <a:p>
            <a:r>
              <a:rPr lang="en-US" b="1" dirty="0">
                <a:solidFill>
                  <a:srgbClr val="C00000"/>
                </a:solidFill>
                <a:latin typeface="Arial" panose="020B0604020202020204" pitchFamily="34" charset="0"/>
                <a:cs typeface="Arial" panose="020B0604020202020204" pitchFamily="34" charset="0"/>
              </a:rPr>
              <a:t>Technology Stack:</a:t>
            </a:r>
            <a:endParaRPr lang="en-IN" dirty="0">
              <a:solidFill>
                <a:srgbClr val="C00000"/>
              </a:solidFill>
              <a:latin typeface="Arial" panose="020B0604020202020204" pitchFamily="34" charset="0"/>
              <a:cs typeface="Arial" panose="020B0604020202020204" pitchFamily="34" charset="0"/>
            </a:endParaRPr>
          </a:p>
        </p:txBody>
      </p:sp>
      <p:sp>
        <p:nvSpPr>
          <p:cNvPr id="3" name="TextBox 2"/>
          <p:cNvSpPr txBox="1"/>
          <p:nvPr/>
        </p:nvSpPr>
        <p:spPr>
          <a:xfrm>
            <a:off x="2752436" y="1470968"/>
            <a:ext cx="3653564" cy="3266985"/>
          </a:xfrm>
          <a:prstGeom prst="rect">
            <a:avLst/>
          </a:prstGeom>
          <a:noFill/>
        </p:spPr>
        <p:txBody>
          <a:bodyPr wrap="none" rtlCol="0">
            <a:spAutoFit/>
          </a:bodyPr>
          <a:lstStyle/>
          <a:p>
            <a:pPr>
              <a:lnSpc>
                <a:spcPct val="150000"/>
              </a:lnSpc>
            </a:pPr>
            <a:r>
              <a:rPr lang="en-IN" sz="2000" dirty="0">
                <a:latin typeface="Arial" panose="020B0604020202020204" pitchFamily="34" charset="0"/>
                <a:cs typeface="Arial" panose="020B0604020202020204" pitchFamily="34" charset="0"/>
              </a:rPr>
              <a:t>Java – 17	</a:t>
            </a:r>
          </a:p>
          <a:p>
            <a:pPr>
              <a:lnSpc>
                <a:spcPct val="150000"/>
              </a:lnSpc>
            </a:pPr>
            <a:r>
              <a:rPr lang="nl-NL" sz="2000" dirty="0">
                <a:latin typeface="Arial" panose="020B0604020202020204" pitchFamily="34" charset="0"/>
                <a:cs typeface="Arial" panose="020B0604020202020204" pitchFamily="34" charset="0"/>
              </a:rPr>
              <a:t>springboot</a:t>
            </a:r>
          </a:p>
          <a:p>
            <a:pPr>
              <a:lnSpc>
                <a:spcPct val="150000"/>
              </a:lnSpc>
            </a:pPr>
            <a:r>
              <a:rPr lang="nl-NL" sz="2000" dirty="0">
                <a:latin typeface="Arial" panose="020B0604020202020204" pitchFamily="34" charset="0"/>
                <a:cs typeface="Arial" panose="020B0604020202020204" pitchFamily="34" charset="0"/>
              </a:rPr>
              <a:t>React – 18.2.0/ for frontend</a:t>
            </a:r>
          </a:p>
          <a:p>
            <a:pPr>
              <a:lnSpc>
                <a:spcPct val="150000"/>
              </a:lnSpc>
            </a:pPr>
            <a:r>
              <a:rPr lang="nl-NL" sz="2000" dirty="0">
                <a:latin typeface="Arial" panose="020B0604020202020204" pitchFamily="34" charset="0"/>
                <a:cs typeface="Arial" panose="020B0604020202020204" pitchFamily="34" charset="0"/>
              </a:rPr>
              <a:t>jQuery – 3.7.1 / for frontend</a:t>
            </a:r>
          </a:p>
          <a:p>
            <a:pPr>
              <a:lnSpc>
                <a:spcPct val="150000"/>
              </a:lnSpc>
            </a:pPr>
            <a:r>
              <a:rPr lang="nl-NL" sz="2000" dirty="0">
                <a:latin typeface="Arial" panose="020B0604020202020204" pitchFamily="34" charset="0"/>
                <a:cs typeface="Arial" panose="020B0604020202020204" pitchFamily="34" charset="0"/>
              </a:rPr>
              <a:t>Bootstrap – 5.3.3 / for frontend</a:t>
            </a:r>
          </a:p>
          <a:p>
            <a:pPr>
              <a:lnSpc>
                <a:spcPct val="150000"/>
              </a:lnSpc>
            </a:pPr>
            <a:r>
              <a:rPr lang="nl-NL" sz="2000" dirty="0">
                <a:latin typeface="Arial" panose="020B0604020202020204" pitchFamily="34" charset="0"/>
                <a:cs typeface="Arial" panose="020B0604020202020204" pitchFamily="34" charset="0"/>
              </a:rPr>
              <a:t>Docker – 4.36.0</a:t>
            </a:r>
          </a:p>
          <a:p>
            <a:pPr>
              <a:lnSpc>
                <a:spcPct val="150000"/>
              </a:lnSpc>
            </a:pPr>
            <a:r>
              <a:rPr lang="nl-NL" sz="2000" dirty="0">
                <a:latin typeface="Arial" panose="020B0604020202020204" pitchFamily="34" charset="0"/>
                <a:cs typeface="Arial" panose="020B0604020202020204" pitchFamily="34" charset="0"/>
              </a:rPr>
              <a:t>OpenAPI Swagger</a:t>
            </a:r>
          </a:p>
        </p:txBody>
      </p:sp>
    </p:spTree>
    <p:extLst>
      <p:ext uri="{BB962C8B-B14F-4D97-AF65-F5344CB8AC3E}">
        <p14:creationId xmlns:p14="http://schemas.microsoft.com/office/powerpoint/2010/main" val="1359142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660340" y="1141107"/>
            <a:ext cx="4123442" cy="1959030"/>
          </a:xfrm>
          <a:prstGeom prst="rect">
            <a:avLst/>
          </a:prstGeom>
        </p:spPr>
      </p:pic>
      <p:pic>
        <p:nvPicPr>
          <p:cNvPr id="7" name="Picture 6"/>
          <p:cNvPicPr>
            <a:picLocks noChangeAspect="1"/>
          </p:cNvPicPr>
          <p:nvPr/>
        </p:nvPicPr>
        <p:blipFill>
          <a:blip r:embed="rId3"/>
          <a:stretch>
            <a:fillRect/>
          </a:stretch>
        </p:blipFill>
        <p:spPr>
          <a:xfrm>
            <a:off x="109045" y="1141107"/>
            <a:ext cx="4257966" cy="3481561"/>
          </a:xfrm>
          <a:prstGeom prst="rect">
            <a:avLst/>
          </a:prstGeom>
        </p:spPr>
      </p:pic>
      <p:pic>
        <p:nvPicPr>
          <p:cNvPr id="8" name="Picture 7"/>
          <p:cNvPicPr>
            <a:picLocks noChangeAspect="1"/>
          </p:cNvPicPr>
          <p:nvPr/>
        </p:nvPicPr>
        <p:blipFill>
          <a:blip r:embed="rId4"/>
          <a:stretch>
            <a:fillRect/>
          </a:stretch>
        </p:blipFill>
        <p:spPr>
          <a:xfrm>
            <a:off x="4660340" y="3202552"/>
            <a:ext cx="4058787" cy="3005361"/>
          </a:xfrm>
          <a:prstGeom prst="rect">
            <a:avLst/>
          </a:prstGeom>
        </p:spPr>
      </p:pic>
      <p:sp>
        <p:nvSpPr>
          <p:cNvPr id="9"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REST APIs</a:t>
            </a:r>
          </a:p>
        </p:txBody>
      </p:sp>
    </p:spTree>
    <p:extLst>
      <p:ext uri="{BB962C8B-B14F-4D97-AF65-F5344CB8AC3E}">
        <p14:creationId xmlns:p14="http://schemas.microsoft.com/office/powerpoint/2010/main" val="1615834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User interface</a:t>
            </a:r>
          </a:p>
        </p:txBody>
      </p:sp>
      <p:pic>
        <p:nvPicPr>
          <p:cNvPr id="5" name="Picture 4"/>
          <p:cNvPicPr>
            <a:picLocks noChangeAspect="1"/>
          </p:cNvPicPr>
          <p:nvPr/>
        </p:nvPicPr>
        <p:blipFill>
          <a:blip r:embed="rId2"/>
          <a:stretch>
            <a:fillRect/>
          </a:stretch>
        </p:blipFill>
        <p:spPr>
          <a:xfrm>
            <a:off x="101600" y="1033413"/>
            <a:ext cx="8992386" cy="5062588"/>
          </a:xfrm>
          <a:prstGeom prst="rect">
            <a:avLst/>
          </a:prstGeom>
          <a:ln>
            <a:solidFill>
              <a:schemeClr val="tx1"/>
            </a:solidFill>
          </a:ln>
        </p:spPr>
      </p:pic>
    </p:spTree>
    <p:extLst>
      <p:ext uri="{BB962C8B-B14F-4D97-AF65-F5344CB8AC3E}">
        <p14:creationId xmlns:p14="http://schemas.microsoft.com/office/powerpoint/2010/main" val="1302032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99879" y="1080072"/>
            <a:ext cx="8921831" cy="5015928"/>
          </a:xfrm>
          <a:prstGeom prst="rect">
            <a:avLst/>
          </a:prstGeom>
          <a:ln>
            <a:solidFill>
              <a:schemeClr val="tx1"/>
            </a:solidFill>
          </a:ln>
        </p:spPr>
      </p:pic>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User interface</a:t>
            </a:r>
          </a:p>
        </p:txBody>
      </p:sp>
      <p:pic>
        <p:nvPicPr>
          <p:cNvPr id="7" name="Picture 6" descr="Sitios Web - Química - Guías temáticas at Pontificia Universidad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6784" y="1875553"/>
            <a:ext cx="571500" cy="571500"/>
          </a:xfrm>
          <a:prstGeom prst="rect">
            <a:avLst/>
          </a:prstGeom>
        </p:spPr>
      </p:pic>
      <p:cxnSp>
        <p:nvCxnSpPr>
          <p:cNvPr id="8" name="Curved Connector 7"/>
          <p:cNvCxnSpPr>
            <a:stCxn id="7" idx="1"/>
            <a:endCxn id="11" idx="3"/>
          </p:cNvCxnSpPr>
          <p:nvPr/>
        </p:nvCxnSpPr>
        <p:spPr>
          <a:xfrm rot="10800000" flipV="1">
            <a:off x="6696364" y="2161303"/>
            <a:ext cx="1610421" cy="2567138"/>
          </a:xfrm>
          <a:prstGeom prst="curved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pic>
        <p:nvPicPr>
          <p:cNvPr id="11" name="Picture 10"/>
          <p:cNvPicPr>
            <a:picLocks noChangeAspect="1"/>
          </p:cNvPicPr>
          <p:nvPr/>
        </p:nvPicPr>
        <p:blipFill>
          <a:blip r:embed="rId4"/>
          <a:stretch>
            <a:fillRect/>
          </a:stretch>
        </p:blipFill>
        <p:spPr>
          <a:xfrm>
            <a:off x="3728417" y="3482379"/>
            <a:ext cx="2967946" cy="249212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89308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6215" y="1115775"/>
            <a:ext cx="8888924" cy="4361388"/>
          </a:xfrm>
          <a:prstGeom prst="rect">
            <a:avLst/>
          </a:prstGeom>
          <a:ln>
            <a:solidFill>
              <a:schemeClr val="tx1"/>
            </a:solidFill>
          </a:ln>
        </p:spPr>
      </p:pic>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User interface</a:t>
            </a:r>
          </a:p>
        </p:txBody>
      </p:sp>
      <p:pic>
        <p:nvPicPr>
          <p:cNvPr id="9" name="Picture 8" descr="Sitios Web - Química - Guías temáticas at Pontificia Universidad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31200" y="1876744"/>
            <a:ext cx="406400" cy="406400"/>
          </a:xfrm>
          <a:prstGeom prst="rect">
            <a:avLst/>
          </a:prstGeom>
        </p:spPr>
      </p:pic>
      <p:cxnSp>
        <p:nvCxnSpPr>
          <p:cNvPr id="10" name="Curved Connector 9"/>
          <p:cNvCxnSpPr>
            <a:stCxn id="9" idx="3"/>
            <a:endCxn id="6" idx="0"/>
          </p:cNvCxnSpPr>
          <p:nvPr/>
        </p:nvCxnSpPr>
        <p:spPr>
          <a:xfrm flipH="1">
            <a:off x="6698200" y="2079944"/>
            <a:ext cx="2039400" cy="1959229"/>
          </a:xfrm>
          <a:prstGeom prst="curvedConnector4">
            <a:avLst>
              <a:gd name="adj1" fmla="val -11209"/>
              <a:gd name="adj2" fmla="val 55186"/>
            </a:avLst>
          </a:prstGeom>
          <a:ln>
            <a:tailEnd type="triangle"/>
          </a:ln>
        </p:spPr>
        <p:style>
          <a:lnRef idx="1">
            <a:schemeClr val="accent6"/>
          </a:lnRef>
          <a:fillRef idx="0">
            <a:schemeClr val="accent6"/>
          </a:fillRef>
          <a:effectRef idx="0">
            <a:schemeClr val="accent6"/>
          </a:effectRef>
          <a:fontRef idx="minor">
            <a:schemeClr val="tx1"/>
          </a:fontRef>
        </p:style>
      </p:cxnSp>
      <p:pic>
        <p:nvPicPr>
          <p:cNvPr id="6" name="Picture 5"/>
          <p:cNvPicPr>
            <a:picLocks noChangeAspect="1"/>
          </p:cNvPicPr>
          <p:nvPr/>
        </p:nvPicPr>
        <p:blipFill>
          <a:blip r:embed="rId4"/>
          <a:stretch>
            <a:fillRect/>
          </a:stretch>
        </p:blipFill>
        <p:spPr>
          <a:xfrm>
            <a:off x="4991472" y="4039173"/>
            <a:ext cx="3413455" cy="1597058"/>
          </a:xfrm>
          <a:prstGeom prst="rect">
            <a:avLst/>
          </a:prstGeom>
          <a:ln>
            <a:solidFill>
              <a:schemeClr val="tx1"/>
            </a:solidFill>
          </a:ln>
          <a:effectLst>
            <a:outerShdw blurRad="50800" dist="38100" dir="2700000" algn="tl" rotWithShape="0">
              <a:prstClr val="black">
                <a:alpha val="40000"/>
              </a:prstClr>
            </a:outerShdw>
          </a:effectLst>
        </p:spPr>
      </p:pic>
      <p:pic>
        <p:nvPicPr>
          <p:cNvPr id="14" name="Picture 13"/>
          <p:cNvPicPr>
            <a:picLocks noChangeAspect="1"/>
          </p:cNvPicPr>
          <p:nvPr/>
        </p:nvPicPr>
        <p:blipFill>
          <a:blip r:embed="rId5"/>
          <a:stretch>
            <a:fillRect/>
          </a:stretch>
        </p:blipFill>
        <p:spPr>
          <a:xfrm>
            <a:off x="2019979" y="4039173"/>
            <a:ext cx="2764457" cy="2341723"/>
          </a:xfrm>
          <a:prstGeom prst="rect">
            <a:avLst/>
          </a:prstGeom>
          <a:ln>
            <a:solidFill>
              <a:schemeClr val="tx1"/>
            </a:solidFill>
          </a:ln>
          <a:effectLst>
            <a:outerShdw blurRad="50800" dist="38100" dir="2700000" algn="tl" rotWithShape="0">
              <a:prstClr val="black">
                <a:alpha val="40000"/>
              </a:prstClr>
            </a:outerShdw>
          </a:effectLst>
        </p:spPr>
      </p:pic>
      <p:pic>
        <p:nvPicPr>
          <p:cNvPr id="15" name="Picture 14" descr="Sitios Web - Química - Guías temáticas at Pontificia Universidad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8018455">
            <a:off x="7543090" y="2303323"/>
            <a:ext cx="439611" cy="439611"/>
          </a:xfrm>
          <a:prstGeom prst="rect">
            <a:avLst/>
          </a:prstGeom>
        </p:spPr>
      </p:pic>
      <p:cxnSp>
        <p:nvCxnSpPr>
          <p:cNvPr id="18" name="Curved Connector 17"/>
          <p:cNvCxnSpPr>
            <a:stCxn id="15" idx="2"/>
            <a:endCxn id="14" idx="0"/>
          </p:cNvCxnSpPr>
          <p:nvPr/>
        </p:nvCxnSpPr>
        <p:spPr>
          <a:xfrm rot="10800000" flipV="1">
            <a:off x="3402208" y="2371433"/>
            <a:ext cx="4201618" cy="1667740"/>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678047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User interface</a:t>
            </a:r>
          </a:p>
        </p:txBody>
      </p:sp>
      <p:pic>
        <p:nvPicPr>
          <p:cNvPr id="8" name="Picture 7"/>
          <p:cNvPicPr>
            <a:picLocks noChangeAspect="1"/>
          </p:cNvPicPr>
          <p:nvPr/>
        </p:nvPicPr>
        <p:blipFill>
          <a:blip r:embed="rId2"/>
          <a:stretch>
            <a:fillRect/>
          </a:stretch>
        </p:blipFill>
        <p:spPr>
          <a:xfrm>
            <a:off x="169328" y="1265382"/>
            <a:ext cx="8720769" cy="4285674"/>
          </a:xfrm>
          <a:prstGeom prst="rect">
            <a:avLst/>
          </a:prstGeom>
          <a:ln>
            <a:solidFill>
              <a:schemeClr val="tx1"/>
            </a:solidFill>
          </a:ln>
        </p:spPr>
      </p:pic>
      <p:sp>
        <p:nvSpPr>
          <p:cNvPr id="9" name="Rectangle 8"/>
          <p:cNvSpPr/>
          <p:nvPr/>
        </p:nvSpPr>
        <p:spPr>
          <a:xfrm>
            <a:off x="2983345" y="1932770"/>
            <a:ext cx="1006764" cy="230832"/>
          </a:xfrm>
          <a:prstGeom prst="rect">
            <a:avLst/>
          </a:prstGeom>
          <a:solidFill>
            <a:schemeClr val="bg1"/>
          </a:solidFill>
        </p:spPr>
        <p:txBody>
          <a:bodyPr wrap="square">
            <a:spAutoFit/>
          </a:bodyPr>
          <a:lstStyle/>
          <a:p>
            <a:r>
              <a:rPr lang="en-IN" sz="900" dirty="0">
                <a:latin typeface="Calibri" panose="020F0502020204030204" pitchFamily="34" charset="0"/>
                <a:ea typeface="Calibri" panose="020F0502020204030204" pitchFamily="34" charset="0"/>
                <a:cs typeface="Calibri" panose="020F0502020204030204" pitchFamily="34" charset="0"/>
              </a:rPr>
              <a:t>Exchange set 1</a:t>
            </a:r>
          </a:p>
        </p:txBody>
      </p:sp>
    </p:spTree>
    <p:extLst>
      <p:ext uri="{BB962C8B-B14F-4D97-AF65-F5344CB8AC3E}">
        <p14:creationId xmlns:p14="http://schemas.microsoft.com/office/powerpoint/2010/main" val="3842790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4247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Release Planning</a:t>
            </a:r>
          </a:p>
        </p:txBody>
      </p:sp>
      <p:sp>
        <p:nvSpPr>
          <p:cNvPr id="5" name="Rectangle 4"/>
          <p:cNvSpPr/>
          <p:nvPr/>
        </p:nvSpPr>
        <p:spPr>
          <a:xfrm>
            <a:off x="189341" y="1101636"/>
            <a:ext cx="8417629"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Release Goals: Define the goals for the initial release.</a:t>
            </a:r>
          </a:p>
          <a:p>
            <a:r>
              <a:rPr lang="en-US" b="1" dirty="0">
                <a:latin typeface="Arial" panose="020B0604020202020204" pitchFamily="34" charset="0"/>
                <a:cs typeface="Arial" panose="020B0604020202020204" pitchFamily="34" charset="0"/>
              </a:rPr>
              <a:t>Milestones: Outline key milestones and their expected dates.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488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2205515"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Test Strategy</a:t>
            </a:r>
          </a:p>
        </p:txBody>
      </p:sp>
      <p:sp>
        <p:nvSpPr>
          <p:cNvPr id="5" name="Rectangle 4"/>
          <p:cNvSpPr/>
          <p:nvPr/>
        </p:nvSpPr>
        <p:spPr>
          <a:xfrm>
            <a:off x="189341" y="1101636"/>
            <a:ext cx="8417629"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Testing Approach: Describe the testing approach and methodologies.</a:t>
            </a:r>
          </a:p>
          <a:p>
            <a:r>
              <a:rPr lang="en-US" b="1" dirty="0">
                <a:latin typeface="Arial" panose="020B0604020202020204" pitchFamily="34" charset="0"/>
                <a:cs typeface="Arial" panose="020B0604020202020204" pitchFamily="34" charset="0"/>
              </a:rPr>
              <a:t>Quality Assurance: Outline the quality assurance.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2383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3192487"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Vision Development</a:t>
            </a:r>
          </a:p>
        </p:txBody>
      </p:sp>
      <p:sp>
        <p:nvSpPr>
          <p:cNvPr id="5" name="Rectangle 4"/>
          <p:cNvSpPr/>
          <p:nvPr/>
        </p:nvSpPr>
        <p:spPr>
          <a:xfrm>
            <a:off x="189341" y="1101636"/>
            <a:ext cx="8417629"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Shared Vision: Articulate the shared vision for the project.</a:t>
            </a:r>
          </a:p>
          <a:p>
            <a:r>
              <a:rPr lang="en-US" b="1" dirty="0">
                <a:latin typeface="Arial" panose="020B0604020202020204" pitchFamily="34" charset="0"/>
                <a:cs typeface="Arial" panose="020B0604020202020204" pitchFamily="34" charset="0"/>
              </a:rPr>
              <a:t>Vision Statement: Provide a concise vision statement.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0026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4019801"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Funding and Resources</a:t>
            </a:r>
          </a:p>
        </p:txBody>
      </p:sp>
      <p:sp>
        <p:nvSpPr>
          <p:cNvPr id="5" name="Rectangle 4"/>
          <p:cNvSpPr/>
          <p:nvPr/>
        </p:nvSpPr>
        <p:spPr>
          <a:xfrm>
            <a:off x="189341" y="1101636"/>
            <a:ext cx="8417629"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Budget Overview: Provide an overview of the project budget.</a:t>
            </a:r>
          </a:p>
          <a:p>
            <a:r>
              <a:rPr lang="en-US" b="1" dirty="0">
                <a:latin typeface="Arial" panose="020B0604020202020204" pitchFamily="34" charset="0"/>
                <a:cs typeface="Arial" panose="020B0604020202020204" pitchFamily="34" charset="0"/>
              </a:rPr>
              <a:t>Resource Allocation: Detail the resources allocated to the project.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2464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7216A-3E66-C819-BE0C-AE26B51244B7}"/>
              </a:ext>
            </a:extLst>
          </p:cNvPr>
          <p:cNvSpPr txBox="1">
            <a:spLocks/>
          </p:cNvSpPr>
          <p:nvPr/>
        </p:nvSpPr>
        <p:spPr>
          <a:xfrm>
            <a:off x="189342" y="534704"/>
            <a:ext cx="4019801" cy="403057"/>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just"/>
            <a:r>
              <a:rPr lang="en-US" sz="2400" b="1" dirty="0">
                <a:ea typeface="Verdana" panose="020B0604030504040204" pitchFamily="34" charset="0"/>
              </a:rPr>
              <a:t>Risks and Dependencies</a:t>
            </a:r>
          </a:p>
        </p:txBody>
      </p:sp>
      <p:sp>
        <p:nvSpPr>
          <p:cNvPr id="5" name="Rectangle 4"/>
          <p:cNvSpPr/>
          <p:nvPr/>
        </p:nvSpPr>
        <p:spPr>
          <a:xfrm>
            <a:off x="189341" y="1101636"/>
            <a:ext cx="8417629"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Risk Identification: List potential risks and their impact.</a:t>
            </a:r>
          </a:p>
          <a:p>
            <a:r>
              <a:rPr lang="en-US" b="1" dirty="0">
                <a:latin typeface="Arial" panose="020B0604020202020204" pitchFamily="34" charset="0"/>
                <a:cs typeface="Arial" panose="020B0604020202020204" pitchFamily="34" charset="0"/>
              </a:rPr>
              <a:t>Dependencies: Identify any critical dependencies.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9852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11E7216A-3E66-C819-BE0C-AE26B51244B7}"/>
              </a:ext>
            </a:extLst>
          </p:cNvPr>
          <p:cNvSpPr txBox="1">
            <a:spLocks/>
          </p:cNvSpPr>
          <p:nvPr/>
        </p:nvSpPr>
        <p:spPr>
          <a:xfrm>
            <a:off x="2533176" y="2760289"/>
            <a:ext cx="3911214" cy="1821865"/>
          </a:xfrm>
          <a:prstGeom prst="rect">
            <a:avLst/>
          </a:prstGeom>
        </p:spPr>
        <p:txBody>
          <a:bodyPr vert="horz" lIns="84407" tIns="42203" rIns="84407" bIns="42203" rtlCol="0" anchor="b">
            <a:noAutofit/>
          </a:bodyPr>
          <a:lstStyle>
            <a:lvl1pPr algn="ctr" defTabSz="685800" rtl="0" eaLnBrk="1" latinLnBrk="0" hangingPunct="1">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6092"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Verdana" panose="020B0604030504040204" pitchFamily="34" charset="0"/>
                <a:ea typeface="Verdana" panose="020B0604030504040204" pitchFamily="34" charset="0"/>
                <a:cs typeface="Calibri Light" panose="020F0302020204030204" pitchFamily="34" charset="0"/>
              </a:rPr>
              <a:t>Thank You</a:t>
            </a:r>
          </a:p>
        </p:txBody>
      </p:sp>
    </p:spTree>
    <p:extLst>
      <p:ext uri="{BB962C8B-B14F-4D97-AF65-F5344CB8AC3E}">
        <p14:creationId xmlns:p14="http://schemas.microsoft.com/office/powerpoint/2010/main" val="3667720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44801</TotalTime>
  <Words>6436</Words>
  <Application>Microsoft Office PowerPoint</Application>
  <PresentationFormat>On-screen Show (4:3)</PresentationFormat>
  <Paragraphs>484</Paragraphs>
  <Slides>33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 Damodara Rao Vaggu</dc:title>
  <dc:creator>Rajender Pilli</dc:creator>
  <cp:lastModifiedBy>Robin Hud</cp:lastModifiedBy>
  <cp:revision>1479</cp:revision>
  <dcterms:created xsi:type="dcterms:W3CDTF">2018-01-29T11:05:48Z</dcterms:created>
  <dcterms:modified xsi:type="dcterms:W3CDTF">2025-11-05T02:28:59Z</dcterms:modified>
</cp:coreProperties>
</file>